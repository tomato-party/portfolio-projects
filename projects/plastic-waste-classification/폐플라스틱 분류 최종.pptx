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68" r:id="rId4"/>
    <p:sldId id="269" r:id="rId5"/>
    <p:sldId id="270" r:id="rId6"/>
    <p:sldId id="264" r:id="rId7"/>
    <p:sldId id="263" r:id="rId8"/>
    <p:sldId id="282" r:id="rId9"/>
    <p:sldId id="285" r:id="rId10"/>
    <p:sldId id="284" r:id="rId11"/>
    <p:sldId id="275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FD084-466A-4E68-BB33-106333705C1B}" v="71" dt="2023-06-01T07:27:33.333"/>
    <p1510:client id="{8789DE2E-7465-4E8D-B95A-7CE91B77DB7B}" v="23" dt="2023-06-01T06:42:44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1968" autoAdjust="0"/>
  </p:normalViewPr>
  <p:slideViewPr>
    <p:cSldViewPr snapToGrid="0">
      <p:cViewPr varScale="1">
        <p:scale>
          <a:sx n="68" d="100"/>
          <a:sy n="68" d="100"/>
        </p:scale>
        <p:origin x="17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ys0716@naver.com" userId="6677800e31b3ca6a" providerId="LiveId" clId="{D2DCB740-48DC-4B5E-B74B-E52BA136ED84}"/>
    <pc:docChg chg="modSld">
      <pc:chgData name="hanys0716@naver.com" userId="6677800e31b3ca6a" providerId="LiveId" clId="{D2DCB740-48DC-4B5E-B74B-E52BA136ED84}" dt="2023-06-01T08:33:06.435" v="2" actId="20577"/>
      <pc:docMkLst>
        <pc:docMk/>
      </pc:docMkLst>
      <pc:sldChg chg="modNotesTx">
        <pc:chgData name="hanys0716@naver.com" userId="6677800e31b3ca6a" providerId="LiveId" clId="{D2DCB740-48DC-4B5E-B74B-E52BA136ED84}" dt="2023-06-01T08:33:06.435" v="2" actId="20577"/>
        <pc:sldMkLst>
          <pc:docMk/>
          <pc:sldMk cId="1771124018" sldId="28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폐플라스틱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C4-4D15-824D-5D6D2E85035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C4-4D15-824D-5D6D2E8503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EC4-4D15-824D-5D6D2E8503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EC4-4D15-824D-5D6D2E85035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PE</c:v>
                </c:pt>
                <c:pt idx="1">
                  <c:v>PET</c:v>
                </c:pt>
                <c:pt idx="2">
                  <c:v>PS</c:v>
                </c:pt>
                <c:pt idx="3">
                  <c:v>PP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3152</c:v>
                </c:pt>
                <c:pt idx="1">
                  <c:v>2524</c:v>
                </c:pt>
                <c:pt idx="2">
                  <c:v>930</c:v>
                </c:pt>
                <c:pt idx="3">
                  <c:v>1700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C8-4501-959D-D36182BC27A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898425196850396"/>
          <c:y val="0.9355533973343001"/>
          <c:w val="0.32046887303149602"/>
          <c:h val="6.44466026656997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6305-DF60-4929-A10D-7F6262407118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BD2AD-DFEC-490F-AFBD-F188FDBEE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68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저희가 사용한 모델인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VGG16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을 소개하겠습니다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VGG16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13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개의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컨볼루션과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3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개의 완전 연결 계층으로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이루어져있습니다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VGG16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컨볼루션과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풀링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계층을 반복하면서 입력 이미지의 특징을 추출합니다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129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컨볼루션은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 이미지를 필터를 통해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특징맵을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 추출하는 것이고 맥스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풀링은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 특정 구간에서 가장 큰 값을 추출하여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특징맵을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 만드는 것입니다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.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859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0" i="0" dirty="0">
                <a:solidFill>
                  <a:srgbClr val="374151"/>
                </a:solidFill>
                <a:effectLst/>
                <a:latin typeface="Söhne"/>
              </a:rPr>
              <a:t>224x224x3 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이미지가 입력되면 </a:t>
            </a:r>
            <a:r>
              <a:rPr lang="ko-KR" altLang="en-US" sz="2800" b="0" i="0" dirty="0" err="1">
                <a:solidFill>
                  <a:srgbClr val="374151"/>
                </a:solidFill>
                <a:effectLst/>
                <a:latin typeface="Söhne"/>
              </a:rPr>
              <a:t>컨볼루션과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ko-KR" altLang="en-US" sz="2800" b="0" i="0" dirty="0" err="1">
                <a:solidFill>
                  <a:srgbClr val="374151"/>
                </a:solidFill>
                <a:effectLst/>
                <a:latin typeface="Söhne"/>
              </a:rPr>
              <a:t>맥스풀링을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 반복하여 이미지를 추출하고 </a:t>
            </a:r>
            <a:r>
              <a:rPr lang="en-US" altLang="ko-KR" sz="2800" b="0" i="0" dirty="0" err="1">
                <a:solidFill>
                  <a:srgbClr val="374151"/>
                </a:solidFill>
                <a:effectLst/>
                <a:latin typeface="Söhne"/>
              </a:rPr>
              <a:t>ReLU</a:t>
            </a:r>
            <a:r>
              <a:rPr lang="en-US" altLang="ko-KR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활성화 함수를 사용하여 비선형성을 도입하고</a:t>
            </a:r>
            <a:r>
              <a:rPr lang="en-US" altLang="ko-KR" sz="28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특징 </a:t>
            </a:r>
            <a:r>
              <a:rPr lang="ko-KR" altLang="en-US" sz="2800" b="0" i="0" dirty="0" err="1">
                <a:solidFill>
                  <a:srgbClr val="374151"/>
                </a:solidFill>
                <a:effectLst/>
                <a:latin typeface="Söhne"/>
              </a:rPr>
              <a:t>맵을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ko-KR" altLang="en-US" sz="2800" b="0" i="0" dirty="0" err="1">
                <a:solidFill>
                  <a:srgbClr val="374151"/>
                </a:solidFill>
                <a:effectLst/>
                <a:latin typeface="Söhne"/>
              </a:rPr>
              <a:t>평탄화합니다</a:t>
            </a:r>
            <a:r>
              <a:rPr lang="en-US" altLang="ko-KR" sz="28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ko-KR" altLang="en-US" sz="2800" b="0" i="0" dirty="0" err="1">
                <a:solidFill>
                  <a:srgbClr val="374151"/>
                </a:solidFill>
                <a:effectLst/>
                <a:latin typeface="Söhne"/>
              </a:rPr>
              <a:t>평탄화된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 특징 </a:t>
            </a:r>
            <a:r>
              <a:rPr lang="ko-KR" altLang="en-US" sz="2800" b="0" i="0" dirty="0" err="1">
                <a:solidFill>
                  <a:srgbClr val="374151"/>
                </a:solidFill>
                <a:effectLst/>
                <a:latin typeface="Söhne"/>
              </a:rPr>
              <a:t>맵은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 완전 연결 계층으로 전달되어 분류를 수행합니다</a:t>
            </a:r>
            <a:r>
              <a:rPr lang="en-US" altLang="ko-KR" sz="2800" b="0" i="0" dirty="0">
                <a:solidFill>
                  <a:srgbClr val="374151"/>
                </a:solidFill>
                <a:effectLst/>
                <a:latin typeface="Söhne"/>
              </a:rPr>
              <a:t>.  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마지막으로 </a:t>
            </a:r>
            <a:r>
              <a:rPr lang="ko-KR" altLang="en-US" sz="2800" b="0" i="0" dirty="0" err="1">
                <a:solidFill>
                  <a:srgbClr val="374151"/>
                </a:solidFill>
                <a:effectLst/>
                <a:latin typeface="Söhne"/>
              </a:rPr>
              <a:t>소프트맥스</a:t>
            </a:r>
            <a:r>
              <a:rPr lang="ko-KR" altLang="en-US" sz="2800" b="0" i="0" dirty="0">
                <a:solidFill>
                  <a:srgbClr val="374151"/>
                </a:solidFill>
                <a:effectLst/>
                <a:latin typeface="Söhne"/>
              </a:rPr>
              <a:t> 활성화 함수를 사용하여 최종 </a:t>
            </a:r>
            <a:r>
              <a:rPr lang="ko-KR" altLang="en-US" sz="1800" b="0" i="0" dirty="0">
                <a:solidFill>
                  <a:srgbClr val="374151"/>
                </a:solidFill>
                <a:effectLst/>
                <a:latin typeface="Söhne"/>
              </a:rPr>
              <a:t>분류해줍니다</a:t>
            </a:r>
            <a:r>
              <a:rPr lang="en-US" altLang="ko-KR" sz="18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704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preprocessing_function</a:t>
            </a:r>
            <a:r>
              <a:rPr lang="en-US" altLang="ko-KR" dirty="0"/>
              <a:t> = </a:t>
            </a:r>
            <a:r>
              <a:rPr lang="en-US" altLang="ko-KR" dirty="0" err="1"/>
              <a:t>preprocessing_input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은 이미지넷 데이터셋에 대해 사전 훈련된 모델인 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VGG16, </a:t>
            </a:r>
            <a:r>
              <a:rPr lang="en-US" altLang="ko-KR" b="0" i="0" dirty="0" err="1">
                <a:solidFill>
                  <a:srgbClr val="374151"/>
                </a:solidFill>
                <a:effectLst/>
                <a:latin typeface="Söhne"/>
              </a:rPr>
              <a:t>ResNet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Inception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등을 사용할 때 해당 모델의 입력 이미지에 적용되는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전처리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함수를 사용하겠다는 의미입니다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이러한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전처리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함수는 입력 이미지를 모델의 학습에 적합한 형식으로 변환하는 역할을 수행합니다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이 함수는 이미지의 크기를 조정하거나 픽셀 값을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정규화하는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등의 작업을 수행할 수 있습니다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US" altLang="ko-KR" b="0" i="0" dirty="0">
              <a:solidFill>
                <a:srgbClr val="404040"/>
              </a:solidFill>
              <a:effectLst/>
              <a:latin typeface="Lato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404040"/>
              </a:solidFill>
              <a:effectLst/>
              <a:latin typeface="Lato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이미지 데이터를 자동으로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전처리할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수 있으므로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별도의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전처리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과정을 거치지 않고 바로 모델에 입력할 수 있습니다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이는 코드의 간결성과 편의성을 높여줍니다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flow_from_directory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함수를 사용하면 이미지 데이터가 저장된 디렉토리의 경로를 지정하고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해당 디렉토리 내부의 하위 디렉토리 구조를 기반으로 이미지 데이터를 자동으로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로드합니다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각 하위 디렉토리는 클래스 레이블을 나타내며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하위 디렉토리 내의 이미지들은 해당 클래스에 속하는 샘플들입니다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데이터를 배치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(batch)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단위로 읽어오며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필요에 따라 이미지의 크기 조정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정규화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데이터 증강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(augmentation)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등의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전처리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작업도 수행할 수 있습니다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또한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데이터를 효율적으로 메모리에 로드하고 모델에 공급할 수 있도록 </a:t>
            </a:r>
            <a:r>
              <a:rPr lang="ko-KR" altLang="en-US" b="0" i="0" dirty="0" err="1">
                <a:solidFill>
                  <a:srgbClr val="374151"/>
                </a:solidFill>
                <a:effectLst/>
                <a:latin typeface="Söhne"/>
              </a:rPr>
              <a:t>제너레이터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 형태로 데이터를 반환</a:t>
            </a:r>
            <a:endParaRPr lang="en-US" altLang="ko-KR" b="0" i="0" dirty="0">
              <a:solidFill>
                <a:srgbClr val="404040"/>
              </a:solidFill>
              <a:effectLst/>
              <a:latin typeface="Lato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533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Vgg16 </a:t>
            </a:r>
            <a:r>
              <a:rPr lang="ko-KR" altLang="en-US" dirty="0"/>
              <a:t>모델을 불러오고 기본 모델 위에 추가 레이어를 쌓아주어 데이터에 맞는 모델 새로 정의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540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머신러닝에서</a:t>
            </a:r>
            <a:r>
              <a:rPr lang="ko-KR" altLang="en-US" dirty="0"/>
              <a:t> 최적화를 </a:t>
            </a:r>
            <a:r>
              <a:rPr lang="ko-KR" altLang="en-US" dirty="0" err="1"/>
              <a:t>할때는</a:t>
            </a:r>
            <a:r>
              <a:rPr lang="ko-KR" altLang="en-US" dirty="0"/>
              <a:t> 여러 번의 학습 과정을 거침</a:t>
            </a:r>
            <a:endParaRPr lang="en-US" altLang="ko-KR" dirty="0"/>
          </a:p>
          <a:p>
            <a:r>
              <a:rPr lang="ko-KR" altLang="en-US" dirty="0"/>
              <a:t>또한 한번의 학습 과정 역시 사용하는 데이터를 나누는 방식으로 세분화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 번의 </a:t>
            </a:r>
            <a:r>
              <a:rPr lang="en-US" altLang="ko-KR" dirty="0"/>
              <a:t>Epoch</a:t>
            </a:r>
            <a:r>
              <a:rPr lang="ko-KR" altLang="en-US" dirty="0"/>
              <a:t>은 인공 신경망에서 전체 데이터 셋에 대해 </a:t>
            </a:r>
            <a:r>
              <a:rPr lang="en-US" altLang="ko-KR" dirty="0"/>
              <a:t>forward/backward </a:t>
            </a:r>
            <a:r>
              <a:rPr lang="ko-KR" altLang="en-US" dirty="0"/>
              <a:t>과정을 거친 것을 말함</a:t>
            </a:r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전체 데이터 셋에 대해 한 번 학습을 완료한 상태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Batch_size</a:t>
            </a:r>
            <a:r>
              <a:rPr lang="ko-KR" altLang="en-US" dirty="0"/>
              <a:t>는 한번의 </a:t>
            </a:r>
            <a:r>
              <a:rPr lang="en-US" altLang="ko-KR" dirty="0"/>
              <a:t>batch</a:t>
            </a:r>
            <a:r>
              <a:rPr lang="ko-KR" altLang="en-US" dirty="0"/>
              <a:t>마다 주는 데이터 샘플의 </a:t>
            </a:r>
            <a:r>
              <a:rPr lang="en-US" altLang="ko-KR" dirty="0"/>
              <a:t>size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나눠진 데이터 셋을 뜻함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519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BD2AD-DFEC-490F-AFBD-F188FDBEE9B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00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D7D0C-CFDA-5990-6313-F7C9A4934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74AE74-A07B-5BA0-95EA-41E39551B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C3A1E9-12AB-BAFA-18CA-09469B80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DDF154-5CB3-DB43-ABE6-539C90D5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64DBBA-8156-15AF-14F4-523644FB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37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ACB68-0EF1-0093-368D-7B14CDB8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159FB-843E-5AB0-9D38-B44E54D8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452241-9724-5B75-F675-E914E426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5D3A1-80CD-2010-3AFB-09BC9A27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24639A-6D64-37B6-E95B-B980F16A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53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8F7CE-1CAE-8594-AA6B-48067C08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ED19AC-8C4F-EE52-DEAD-52AAC9E5F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DEEF1-FE95-58B6-FF6E-08C0EF6B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8A258-9D14-37DE-184F-6AB25D0E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9D818-E712-EC92-622B-A746528C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45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0CCC5-0F71-F18C-7B86-1CFD7BA4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2D2F4B-55FB-FC9D-4E42-FA214FFEE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B49F6B-2641-A1CF-B0C6-983FC01C1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78BD56-C419-F3E7-B768-5E8520A0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36CE5C-B9B0-A6CF-A835-B27AA3C8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54537-8208-993A-8DFE-1E6B00D1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03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12DF1-2B9A-0C26-D203-08859982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8B2202-E2F9-C0A8-2E31-BF3988C93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05FC29-BE24-E931-855D-980D32C99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1FC955-3228-121F-79D8-B4742D480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11CF9F-D3D7-9B5D-6B52-56381972D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17A8A3-EAAA-91D6-FA38-D85BF535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0181F8B-459B-D0D5-420C-2C970D33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8E16CC-82B4-37C9-02AF-32293B93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29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0E0861-7A8F-C83A-A67B-0D05B74C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56DA83-777F-378D-B48D-130D6CFF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C51DF4-D4B5-5482-6278-D8B5E412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A47A1A-7D87-D88B-A96B-E1AC1677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93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E138A6-9566-C710-90FB-0B233B06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50D732-B03A-8A92-D4D4-2F45E6AA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D4F4C8-7DCB-78FF-BFC3-70538769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9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C4027-0A2F-066D-79A6-EF2CFF4C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8896B-86EA-785C-CB95-2B02CCB7D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95F721-1D49-994C-78F6-481DD7C57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FA10C-0A13-6FE0-EB46-39EB769E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38A98B-ABD2-093F-9603-2781E76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A4D2F-3AD8-2349-A8E2-56A1DE21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0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78CB6-0328-8FC9-796C-77EC8FA5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3C63EA-D7FA-27D6-4F34-6E8508B8B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A6AB50-EEA0-BC08-B028-4C5F56CAB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07D60-4FB2-D095-48CA-B83A9510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AF1A8-9287-7FBE-28AB-BC26512B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9647C-7F91-280D-35E5-C502A429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04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8B181-A28E-1FA8-CC79-A9265B52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ABC260-8758-9EE2-E567-F3A280970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5312B-2DD5-8054-99AB-4A3AFDE1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862A2B-74A7-5A4E-ED73-FAAB2FF5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6367CC-F25D-C512-A466-F8E79437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62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00C8A9-83F7-C893-6B32-02C18A564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B303DC-DA42-95EF-7BF9-8CC5B6852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8F1B2A-E3FB-2B08-B0FC-5256622B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D62E55-50B4-2824-C1B7-FDF09FC1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EC134-43BF-2901-0B06-BE02D07D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0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6277B5-115D-3C74-2FF0-B5C0C748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860860-BA98-0D1D-5856-C45E661DB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A2AE4-F14A-FF09-1239-615225394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205F4-1F26-4FC3-9CBB-7517562DCB45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2DD6F0-4D92-E117-918D-4780DECA1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2CCF6-25FD-BF12-7F51-C1AF5F374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C664F-CC27-467C-961C-00F7E268D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01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CC014-82CF-A1C3-0E0C-161797CEEF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폐플라스틱 이미지 분류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63081C-1055-FEAB-D182-E545999BB9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/>
              <a:t>DF 4</a:t>
            </a:r>
            <a:r>
              <a:rPr lang="ko-KR" altLang="en-US" dirty="0"/>
              <a:t>조 이규린 </a:t>
            </a:r>
            <a:r>
              <a:rPr lang="ko-KR" altLang="en-US" dirty="0" err="1"/>
              <a:t>한유승</a:t>
            </a:r>
            <a:r>
              <a:rPr lang="ko-KR" altLang="en-US" dirty="0"/>
              <a:t> </a:t>
            </a:r>
            <a:r>
              <a:rPr lang="ko-KR" altLang="en-US" dirty="0" err="1"/>
              <a:t>채예진</a:t>
            </a:r>
            <a:r>
              <a:rPr lang="ko-KR" altLang="en-US" dirty="0"/>
              <a:t> 김유경</a:t>
            </a:r>
          </a:p>
        </p:txBody>
      </p:sp>
    </p:spTree>
    <p:extLst>
      <p:ext uri="{BB962C8B-B14F-4D97-AF65-F5344CB8AC3E}">
        <p14:creationId xmlns:p14="http://schemas.microsoft.com/office/powerpoint/2010/main" val="386472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C8698-6B6B-184F-96AE-0FA150A0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B10F58-6EFE-2017-2F1E-21B0ED4BE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소개</a:t>
            </a:r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en-US" altLang="ko-KR" dirty="0"/>
              <a:t>VGG-16</a:t>
            </a:r>
          </a:p>
          <a:p>
            <a:r>
              <a:rPr lang="en-US" altLang="ko-KR" dirty="0"/>
              <a:t>Resnet20</a:t>
            </a:r>
          </a:p>
          <a:p>
            <a:r>
              <a:rPr lang="ko-KR" altLang="en-US" dirty="0"/>
              <a:t>결과 및 향후 방향</a:t>
            </a:r>
          </a:p>
        </p:txBody>
      </p:sp>
    </p:spTree>
    <p:extLst>
      <p:ext uri="{BB962C8B-B14F-4D97-AF65-F5344CB8AC3E}">
        <p14:creationId xmlns:p14="http://schemas.microsoft.com/office/powerpoint/2010/main" val="145873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0">
            <a:extLst>
              <a:ext uri="{FF2B5EF4-FFF2-40B4-BE49-F238E27FC236}">
                <a16:creationId xmlns:a16="http://schemas.microsoft.com/office/drawing/2014/main" id="{891F8AB2-002E-A31E-00CF-204EDC13D80D}"/>
              </a:ext>
            </a:extLst>
          </p:cNvPr>
          <p:cNvSpPr txBox="1"/>
          <p:nvPr/>
        </p:nvSpPr>
        <p:spPr>
          <a:xfrm>
            <a:off x="544535" y="440127"/>
            <a:ext cx="217008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AI Hub</a:t>
            </a:r>
            <a:endParaRPr lang="en-US" sz="2800" dirty="0"/>
          </a:p>
        </p:txBody>
      </p:sp>
      <p:grpSp>
        <p:nvGrpSpPr>
          <p:cNvPr id="5" name="그룹 1007">
            <a:extLst>
              <a:ext uri="{FF2B5EF4-FFF2-40B4-BE49-F238E27FC236}">
                <a16:creationId xmlns:a16="http://schemas.microsoft.com/office/drawing/2014/main" id="{8FB0F87C-EEA9-F47A-BCD9-96FCA8B635A5}"/>
              </a:ext>
            </a:extLst>
          </p:cNvPr>
          <p:cNvGrpSpPr/>
          <p:nvPr/>
        </p:nvGrpSpPr>
        <p:grpSpPr>
          <a:xfrm>
            <a:off x="1360499" y="1340192"/>
            <a:ext cx="9471002" cy="4474821"/>
            <a:chOff x="816804" y="2053150"/>
            <a:chExt cx="10804119" cy="5696999"/>
          </a:xfrm>
        </p:grpSpPr>
        <p:pic>
          <p:nvPicPr>
            <p:cNvPr id="6" name="Object 24">
              <a:extLst>
                <a:ext uri="{FF2B5EF4-FFF2-40B4-BE49-F238E27FC236}">
                  <a16:creationId xmlns:a16="http://schemas.microsoft.com/office/drawing/2014/main" id="{2D81A2D2-FB25-121D-FAEE-92304255B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04" y="2053150"/>
              <a:ext cx="10804119" cy="5696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119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72">
            <a:extLst>
              <a:ext uri="{FF2B5EF4-FFF2-40B4-BE49-F238E27FC236}">
                <a16:creationId xmlns:a16="http://schemas.microsoft.com/office/drawing/2014/main" id="{FF0D9403-BB7D-204E-85D9-B3975B8A45D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7560" y="3692129"/>
            <a:ext cx="10096880" cy="2773476"/>
          </a:xfrm>
          <a:prstGeom prst="rect">
            <a:avLst/>
          </a:prstGeom>
        </p:spPr>
      </p:pic>
      <p:grpSp>
        <p:nvGrpSpPr>
          <p:cNvPr id="5" name="그룹 1005">
            <a:extLst>
              <a:ext uri="{FF2B5EF4-FFF2-40B4-BE49-F238E27FC236}">
                <a16:creationId xmlns:a16="http://schemas.microsoft.com/office/drawing/2014/main" id="{AF9CEA52-FA18-40EC-F6DB-5F4ACBC78B21}"/>
              </a:ext>
            </a:extLst>
          </p:cNvPr>
          <p:cNvGrpSpPr/>
          <p:nvPr/>
        </p:nvGrpSpPr>
        <p:grpSpPr>
          <a:xfrm>
            <a:off x="961439" y="903861"/>
            <a:ext cx="10269122" cy="2234264"/>
            <a:chOff x="1278010" y="2090527"/>
            <a:chExt cx="15403683" cy="3351396"/>
          </a:xfrm>
        </p:grpSpPr>
        <p:grpSp>
          <p:nvGrpSpPr>
            <p:cNvPr id="6" name="그룹 1006">
              <a:extLst>
                <a:ext uri="{FF2B5EF4-FFF2-40B4-BE49-F238E27FC236}">
                  <a16:creationId xmlns:a16="http://schemas.microsoft.com/office/drawing/2014/main" id="{61C8677B-4350-BABA-BB7A-58F8CF04B550}"/>
                </a:ext>
              </a:extLst>
            </p:cNvPr>
            <p:cNvGrpSpPr/>
            <p:nvPr/>
          </p:nvGrpSpPr>
          <p:grpSpPr>
            <a:xfrm>
              <a:off x="5465754" y="2090527"/>
              <a:ext cx="3357175" cy="3351396"/>
              <a:chOff x="5465754" y="2090527"/>
              <a:chExt cx="3357175" cy="3351396"/>
            </a:xfrm>
          </p:grpSpPr>
          <p:pic>
            <p:nvPicPr>
              <p:cNvPr id="40" name="Object 16">
                <a:extLst>
                  <a:ext uri="{FF2B5EF4-FFF2-40B4-BE49-F238E27FC236}">
                    <a16:creationId xmlns:a16="http://schemas.microsoft.com/office/drawing/2014/main" id="{A7E98C12-2186-AD5D-027C-09CAE7315D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841855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41" name="Object 17">
                <a:extLst>
                  <a:ext uri="{FF2B5EF4-FFF2-40B4-BE49-F238E27FC236}">
                    <a16:creationId xmlns:a16="http://schemas.microsoft.com/office/drawing/2014/main" id="{D00B3FB8-F019-79EF-2386-96ADE50584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465754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7" name="그룹 1007">
              <a:extLst>
                <a:ext uri="{FF2B5EF4-FFF2-40B4-BE49-F238E27FC236}">
                  <a16:creationId xmlns:a16="http://schemas.microsoft.com/office/drawing/2014/main" id="{F53C6E28-6C0D-E04D-A195-D1E2C30FB5FB}"/>
                </a:ext>
              </a:extLst>
            </p:cNvPr>
            <p:cNvGrpSpPr/>
            <p:nvPr/>
          </p:nvGrpSpPr>
          <p:grpSpPr>
            <a:xfrm>
              <a:off x="5207387" y="2362178"/>
              <a:ext cx="3447447" cy="805803"/>
              <a:chOff x="5207387" y="2362178"/>
              <a:chExt cx="3447447" cy="805803"/>
            </a:xfrm>
          </p:grpSpPr>
          <p:grpSp>
            <p:nvGrpSpPr>
              <p:cNvPr id="35" name="그룹 1008">
                <a:extLst>
                  <a:ext uri="{FF2B5EF4-FFF2-40B4-BE49-F238E27FC236}">
                    <a16:creationId xmlns:a16="http://schemas.microsoft.com/office/drawing/2014/main" id="{D4B2B7F5-1263-5563-E625-4E8AFAC06F76}"/>
                  </a:ext>
                </a:extLst>
              </p:cNvPr>
              <p:cNvGrpSpPr/>
              <p:nvPr/>
            </p:nvGrpSpPr>
            <p:grpSpPr>
              <a:xfrm>
                <a:off x="5236982" y="2362178"/>
                <a:ext cx="3417852" cy="805803"/>
                <a:chOff x="5236982" y="2362178"/>
                <a:chExt cx="3417852" cy="805803"/>
              </a:xfrm>
            </p:grpSpPr>
            <p:pic>
              <p:nvPicPr>
                <p:cNvPr id="39" name="Object 21">
                  <a:extLst>
                    <a:ext uri="{FF2B5EF4-FFF2-40B4-BE49-F238E27FC236}">
                      <a16:creationId xmlns:a16="http://schemas.microsoft.com/office/drawing/2014/main" id="{B1657E86-6CFD-5E83-8357-9AC1F4EED8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236982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36" name="그룹 1009">
                <a:extLst>
                  <a:ext uri="{FF2B5EF4-FFF2-40B4-BE49-F238E27FC236}">
                    <a16:creationId xmlns:a16="http://schemas.microsoft.com/office/drawing/2014/main" id="{815EE8CB-5B64-16CA-DD92-C398B2FAC9FE}"/>
                  </a:ext>
                </a:extLst>
              </p:cNvPr>
              <p:cNvGrpSpPr/>
              <p:nvPr/>
            </p:nvGrpSpPr>
            <p:grpSpPr>
              <a:xfrm>
                <a:off x="5207387" y="2436340"/>
                <a:ext cx="3430384" cy="553999"/>
                <a:chOff x="5207387" y="2436340"/>
                <a:chExt cx="3430384" cy="553999"/>
              </a:xfrm>
            </p:grpSpPr>
            <p:sp>
              <p:nvSpPr>
                <p:cNvPr id="37" name="Object 25">
                  <a:extLst>
                    <a:ext uri="{FF2B5EF4-FFF2-40B4-BE49-F238E27FC236}">
                      <a16:creationId xmlns:a16="http://schemas.microsoft.com/office/drawing/2014/main" id="{51EBB46A-434B-1AED-D8AD-D2A2F35DBDBA}"/>
                    </a:ext>
                  </a:extLst>
                </p:cNvPr>
                <p:cNvSpPr txBox="1"/>
                <p:nvPr/>
              </p:nvSpPr>
              <p:spPr>
                <a:xfrm>
                  <a:off x="5626837" y="2444077"/>
                  <a:ext cx="3010934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PET</a:t>
                  </a:r>
                  <a:endParaRPr lang="en-US" sz="1200" dirty="0"/>
                </a:p>
              </p:txBody>
            </p:sp>
            <p:sp>
              <p:nvSpPr>
                <p:cNvPr id="38" name="Object 26">
                  <a:extLst>
                    <a:ext uri="{FF2B5EF4-FFF2-40B4-BE49-F238E27FC236}">
                      <a16:creationId xmlns:a16="http://schemas.microsoft.com/office/drawing/2014/main" id="{0CCB4808-E34C-5568-9DF2-F859377EAEA2}"/>
                    </a:ext>
                  </a:extLst>
                </p:cNvPr>
                <p:cNvSpPr txBox="1"/>
                <p:nvPr/>
              </p:nvSpPr>
              <p:spPr>
                <a:xfrm>
                  <a:off x="5207387" y="2436340"/>
                  <a:ext cx="722983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2</a:t>
                  </a:r>
                  <a:endParaRPr lang="en-US" sz="1200" dirty="0"/>
                </a:p>
              </p:txBody>
            </p:sp>
          </p:grpSp>
        </p:grpSp>
        <p:grpSp>
          <p:nvGrpSpPr>
            <p:cNvPr id="8" name="그룹 1010">
              <a:extLst>
                <a:ext uri="{FF2B5EF4-FFF2-40B4-BE49-F238E27FC236}">
                  <a16:creationId xmlns:a16="http://schemas.microsoft.com/office/drawing/2014/main" id="{BD3151CC-814C-E6B4-5418-B74C18C8190A}"/>
                </a:ext>
              </a:extLst>
            </p:cNvPr>
            <p:cNvGrpSpPr/>
            <p:nvPr/>
          </p:nvGrpSpPr>
          <p:grpSpPr>
            <a:xfrm>
              <a:off x="1536373" y="2090527"/>
              <a:ext cx="3357175" cy="3351396"/>
              <a:chOff x="1536373" y="2090527"/>
              <a:chExt cx="3357175" cy="3351396"/>
            </a:xfrm>
          </p:grpSpPr>
          <p:pic>
            <p:nvPicPr>
              <p:cNvPr id="33" name="Object 29">
                <a:extLst>
                  <a:ext uri="{FF2B5EF4-FFF2-40B4-BE49-F238E27FC236}">
                    <a16:creationId xmlns:a16="http://schemas.microsoft.com/office/drawing/2014/main" id="{2F86C8B2-1EE9-0EF0-EBEE-7BB45C8F1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-87527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34" name="Object 30">
                <a:extLst>
                  <a:ext uri="{FF2B5EF4-FFF2-40B4-BE49-F238E27FC236}">
                    <a16:creationId xmlns:a16="http://schemas.microsoft.com/office/drawing/2014/main" id="{A33DEEBF-C3CC-84CA-6A8F-32EC5D359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36373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9" name="그룹 1011">
              <a:extLst>
                <a:ext uri="{FF2B5EF4-FFF2-40B4-BE49-F238E27FC236}">
                  <a16:creationId xmlns:a16="http://schemas.microsoft.com/office/drawing/2014/main" id="{ADFB8868-C16C-3868-2798-5F7E4B42D1FD}"/>
                </a:ext>
              </a:extLst>
            </p:cNvPr>
            <p:cNvGrpSpPr/>
            <p:nvPr/>
          </p:nvGrpSpPr>
          <p:grpSpPr>
            <a:xfrm>
              <a:off x="1278010" y="2362178"/>
              <a:ext cx="3447442" cy="805803"/>
              <a:chOff x="1278010" y="2362178"/>
              <a:chExt cx="3447442" cy="805803"/>
            </a:xfrm>
          </p:grpSpPr>
          <p:grpSp>
            <p:nvGrpSpPr>
              <p:cNvPr id="28" name="그룹 1012">
                <a:extLst>
                  <a:ext uri="{FF2B5EF4-FFF2-40B4-BE49-F238E27FC236}">
                    <a16:creationId xmlns:a16="http://schemas.microsoft.com/office/drawing/2014/main" id="{C9B228F7-D0D3-80A5-47EE-79870CD6D1F3}"/>
                  </a:ext>
                </a:extLst>
              </p:cNvPr>
              <p:cNvGrpSpPr/>
              <p:nvPr/>
            </p:nvGrpSpPr>
            <p:grpSpPr>
              <a:xfrm>
                <a:off x="1307600" y="2362178"/>
                <a:ext cx="3417852" cy="805803"/>
                <a:chOff x="1307600" y="2362178"/>
                <a:chExt cx="3417852" cy="805803"/>
              </a:xfrm>
            </p:grpSpPr>
            <p:pic>
              <p:nvPicPr>
                <p:cNvPr id="32" name="Object 34">
                  <a:extLst>
                    <a:ext uri="{FF2B5EF4-FFF2-40B4-BE49-F238E27FC236}">
                      <a16:creationId xmlns:a16="http://schemas.microsoft.com/office/drawing/2014/main" id="{E9252C76-983C-29E2-2F19-BCFFAD723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1307600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29" name="그룹 1013">
                <a:extLst>
                  <a:ext uri="{FF2B5EF4-FFF2-40B4-BE49-F238E27FC236}">
                    <a16:creationId xmlns:a16="http://schemas.microsoft.com/office/drawing/2014/main" id="{8CA9A195-AD05-86E1-E53D-906090CB2251}"/>
                  </a:ext>
                </a:extLst>
              </p:cNvPr>
              <p:cNvGrpSpPr/>
              <p:nvPr/>
            </p:nvGrpSpPr>
            <p:grpSpPr>
              <a:xfrm>
                <a:off x="1278010" y="2436345"/>
                <a:ext cx="3430382" cy="553999"/>
                <a:chOff x="1278010" y="2436345"/>
                <a:chExt cx="3430382" cy="553999"/>
              </a:xfrm>
            </p:grpSpPr>
            <p:sp>
              <p:nvSpPr>
                <p:cNvPr id="30" name="Object 38">
                  <a:extLst>
                    <a:ext uri="{FF2B5EF4-FFF2-40B4-BE49-F238E27FC236}">
                      <a16:creationId xmlns:a16="http://schemas.microsoft.com/office/drawing/2014/main" id="{504C0786-D595-B4CF-7ED8-72F1D4B97DA6}"/>
                    </a:ext>
                  </a:extLst>
                </p:cNvPr>
                <p:cNvSpPr txBox="1"/>
                <p:nvPr/>
              </p:nvSpPr>
              <p:spPr>
                <a:xfrm>
                  <a:off x="1697459" y="2444076"/>
                  <a:ext cx="3010933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PE</a:t>
                  </a:r>
                  <a:endParaRPr lang="en-US" sz="1200" dirty="0"/>
                </a:p>
              </p:txBody>
            </p:sp>
            <p:sp>
              <p:nvSpPr>
                <p:cNvPr id="31" name="Object 39">
                  <a:extLst>
                    <a:ext uri="{FF2B5EF4-FFF2-40B4-BE49-F238E27FC236}">
                      <a16:creationId xmlns:a16="http://schemas.microsoft.com/office/drawing/2014/main" id="{72FC2784-76FD-2014-33BA-AF5518645135}"/>
                    </a:ext>
                  </a:extLst>
                </p:cNvPr>
                <p:cNvSpPr txBox="1"/>
                <p:nvPr/>
              </p:nvSpPr>
              <p:spPr>
                <a:xfrm>
                  <a:off x="1278010" y="2436345"/>
                  <a:ext cx="722983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1</a:t>
                  </a:r>
                  <a:endParaRPr lang="en-US" sz="1200" dirty="0"/>
                </a:p>
              </p:txBody>
            </p:sp>
          </p:grpSp>
        </p:grpSp>
        <p:grpSp>
          <p:nvGrpSpPr>
            <p:cNvPr id="10" name="그룹 1014">
              <a:extLst>
                <a:ext uri="{FF2B5EF4-FFF2-40B4-BE49-F238E27FC236}">
                  <a16:creationId xmlns:a16="http://schemas.microsoft.com/office/drawing/2014/main" id="{FF8C0678-D2E9-0FA3-75EB-D248F7CF490F}"/>
                </a:ext>
              </a:extLst>
            </p:cNvPr>
            <p:cNvGrpSpPr/>
            <p:nvPr/>
          </p:nvGrpSpPr>
          <p:grpSpPr>
            <a:xfrm>
              <a:off x="13324518" y="2090527"/>
              <a:ext cx="3357175" cy="3351396"/>
              <a:chOff x="13324518" y="2090527"/>
              <a:chExt cx="3357175" cy="3351396"/>
            </a:xfrm>
          </p:grpSpPr>
          <p:pic>
            <p:nvPicPr>
              <p:cNvPr id="26" name="Object 42">
                <a:extLst>
                  <a:ext uri="{FF2B5EF4-FFF2-40B4-BE49-F238E27FC236}">
                    <a16:creationId xmlns:a16="http://schemas.microsoft.com/office/drawing/2014/main" id="{04E82889-80D4-3B13-C62B-C62B79E00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700618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27" name="Object 43">
                <a:extLst>
                  <a:ext uri="{FF2B5EF4-FFF2-40B4-BE49-F238E27FC236}">
                    <a16:creationId xmlns:a16="http://schemas.microsoft.com/office/drawing/2014/main" id="{EDC4D740-0053-E94C-62F9-D746ECC01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24518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11" name="그룹 1015">
              <a:extLst>
                <a:ext uri="{FF2B5EF4-FFF2-40B4-BE49-F238E27FC236}">
                  <a16:creationId xmlns:a16="http://schemas.microsoft.com/office/drawing/2014/main" id="{6F302774-798A-19B9-264C-1AA72B4B99ED}"/>
                </a:ext>
              </a:extLst>
            </p:cNvPr>
            <p:cNvGrpSpPr/>
            <p:nvPr/>
          </p:nvGrpSpPr>
          <p:grpSpPr>
            <a:xfrm>
              <a:off x="13066169" y="2362178"/>
              <a:ext cx="3447428" cy="805803"/>
              <a:chOff x="13066169" y="2362178"/>
              <a:chExt cx="3447428" cy="805803"/>
            </a:xfrm>
          </p:grpSpPr>
          <p:grpSp>
            <p:nvGrpSpPr>
              <p:cNvPr id="21" name="그룹 1016">
                <a:extLst>
                  <a:ext uri="{FF2B5EF4-FFF2-40B4-BE49-F238E27FC236}">
                    <a16:creationId xmlns:a16="http://schemas.microsoft.com/office/drawing/2014/main" id="{ADBAFB97-3ED1-E28D-E456-7176CC59F41C}"/>
                  </a:ext>
                </a:extLst>
              </p:cNvPr>
              <p:cNvGrpSpPr/>
              <p:nvPr/>
            </p:nvGrpSpPr>
            <p:grpSpPr>
              <a:xfrm>
                <a:off x="13095745" y="2362178"/>
                <a:ext cx="3417852" cy="805803"/>
                <a:chOff x="13095745" y="2362178"/>
                <a:chExt cx="3417852" cy="805803"/>
              </a:xfrm>
            </p:grpSpPr>
            <p:pic>
              <p:nvPicPr>
                <p:cNvPr id="25" name="Object 47">
                  <a:extLst>
                    <a:ext uri="{FF2B5EF4-FFF2-40B4-BE49-F238E27FC236}">
                      <a16:creationId xmlns:a16="http://schemas.microsoft.com/office/drawing/2014/main" id="{70FE5251-8470-66EB-7EB0-C35487C2CF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13095745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22" name="그룹 1017">
                <a:extLst>
                  <a:ext uri="{FF2B5EF4-FFF2-40B4-BE49-F238E27FC236}">
                    <a16:creationId xmlns:a16="http://schemas.microsoft.com/office/drawing/2014/main" id="{E527A630-F5A5-5814-094C-BDF9C1CF4BE8}"/>
                  </a:ext>
                </a:extLst>
              </p:cNvPr>
              <p:cNvGrpSpPr/>
              <p:nvPr/>
            </p:nvGrpSpPr>
            <p:grpSpPr>
              <a:xfrm>
                <a:off x="13066169" y="2436345"/>
                <a:ext cx="3430334" cy="553999"/>
                <a:chOff x="13066169" y="2436345"/>
                <a:chExt cx="3430334" cy="553999"/>
              </a:xfrm>
            </p:grpSpPr>
            <p:sp>
              <p:nvSpPr>
                <p:cNvPr id="23" name="Object 51">
                  <a:extLst>
                    <a:ext uri="{FF2B5EF4-FFF2-40B4-BE49-F238E27FC236}">
                      <a16:creationId xmlns:a16="http://schemas.microsoft.com/office/drawing/2014/main" id="{B25567D9-26DB-7F59-F1EC-FDB9AC20DD13}"/>
                    </a:ext>
                  </a:extLst>
                </p:cNvPr>
                <p:cNvSpPr txBox="1"/>
                <p:nvPr/>
              </p:nvSpPr>
              <p:spPr>
                <a:xfrm>
                  <a:off x="13485571" y="2444076"/>
                  <a:ext cx="3010932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PS</a:t>
                  </a:r>
                  <a:endParaRPr lang="en-US" sz="1200" dirty="0"/>
                </a:p>
              </p:txBody>
            </p:sp>
            <p:sp>
              <p:nvSpPr>
                <p:cNvPr id="24" name="Object 52">
                  <a:extLst>
                    <a:ext uri="{FF2B5EF4-FFF2-40B4-BE49-F238E27FC236}">
                      <a16:creationId xmlns:a16="http://schemas.microsoft.com/office/drawing/2014/main" id="{3414CECA-B3AB-517B-311F-5476113C2507}"/>
                    </a:ext>
                  </a:extLst>
                </p:cNvPr>
                <p:cNvSpPr txBox="1"/>
                <p:nvPr/>
              </p:nvSpPr>
              <p:spPr>
                <a:xfrm>
                  <a:off x="13066169" y="2436345"/>
                  <a:ext cx="722984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4</a:t>
                  </a:r>
                  <a:endParaRPr lang="en-US" sz="1200" dirty="0"/>
                </a:p>
              </p:txBody>
            </p:sp>
          </p:grpSp>
        </p:grpSp>
        <p:grpSp>
          <p:nvGrpSpPr>
            <p:cNvPr id="12" name="그룹 1018">
              <a:extLst>
                <a:ext uri="{FF2B5EF4-FFF2-40B4-BE49-F238E27FC236}">
                  <a16:creationId xmlns:a16="http://schemas.microsoft.com/office/drawing/2014/main" id="{7D97D19E-DEE4-580B-2E61-76D95F7B5A73}"/>
                </a:ext>
              </a:extLst>
            </p:cNvPr>
            <p:cNvGrpSpPr/>
            <p:nvPr/>
          </p:nvGrpSpPr>
          <p:grpSpPr>
            <a:xfrm>
              <a:off x="9395136" y="2090527"/>
              <a:ext cx="3357175" cy="3351396"/>
              <a:chOff x="9395136" y="2090527"/>
              <a:chExt cx="3357175" cy="3351396"/>
            </a:xfrm>
          </p:grpSpPr>
          <p:pic>
            <p:nvPicPr>
              <p:cNvPr id="19" name="Object 55">
                <a:extLst>
                  <a:ext uri="{FF2B5EF4-FFF2-40B4-BE49-F238E27FC236}">
                    <a16:creationId xmlns:a16="http://schemas.microsoft.com/office/drawing/2014/main" id="{A730AB4D-CED2-D6D5-6386-A562033E1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71236" y="469517"/>
                <a:ext cx="6714349" cy="6702791"/>
              </a:xfrm>
              <a:prstGeom prst="rect">
                <a:avLst/>
              </a:prstGeom>
            </p:spPr>
          </p:pic>
          <p:pic>
            <p:nvPicPr>
              <p:cNvPr id="20" name="Object 56">
                <a:extLst>
                  <a:ext uri="{FF2B5EF4-FFF2-40B4-BE49-F238E27FC236}">
                    <a16:creationId xmlns:a16="http://schemas.microsoft.com/office/drawing/2014/main" id="{9A18FAED-257A-D776-2C69-E9A22E733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395136" y="2090527"/>
                <a:ext cx="3357175" cy="3351396"/>
              </a:xfrm>
              <a:prstGeom prst="rect">
                <a:avLst/>
              </a:prstGeom>
            </p:spPr>
          </p:pic>
        </p:grpSp>
        <p:grpSp>
          <p:nvGrpSpPr>
            <p:cNvPr id="13" name="그룹 1019">
              <a:extLst>
                <a:ext uri="{FF2B5EF4-FFF2-40B4-BE49-F238E27FC236}">
                  <a16:creationId xmlns:a16="http://schemas.microsoft.com/office/drawing/2014/main" id="{4AFA52E7-6A83-7EAB-22E3-F4612F9B8688}"/>
                </a:ext>
              </a:extLst>
            </p:cNvPr>
            <p:cNvGrpSpPr/>
            <p:nvPr/>
          </p:nvGrpSpPr>
          <p:grpSpPr>
            <a:xfrm>
              <a:off x="9136773" y="2362178"/>
              <a:ext cx="3447442" cy="805803"/>
              <a:chOff x="9136773" y="2362178"/>
              <a:chExt cx="3447442" cy="805803"/>
            </a:xfrm>
          </p:grpSpPr>
          <p:grpSp>
            <p:nvGrpSpPr>
              <p:cNvPr id="14" name="그룹 1020">
                <a:extLst>
                  <a:ext uri="{FF2B5EF4-FFF2-40B4-BE49-F238E27FC236}">
                    <a16:creationId xmlns:a16="http://schemas.microsoft.com/office/drawing/2014/main" id="{6DAD73D2-DFE1-5047-6D2F-21A9575F0ECB}"/>
                  </a:ext>
                </a:extLst>
              </p:cNvPr>
              <p:cNvGrpSpPr/>
              <p:nvPr/>
            </p:nvGrpSpPr>
            <p:grpSpPr>
              <a:xfrm>
                <a:off x="9166363" y="2362178"/>
                <a:ext cx="3417852" cy="805803"/>
                <a:chOff x="9166363" y="2362178"/>
                <a:chExt cx="3417852" cy="805803"/>
              </a:xfrm>
            </p:grpSpPr>
            <p:pic>
              <p:nvPicPr>
                <p:cNvPr id="18" name="Object 60">
                  <a:extLst>
                    <a:ext uri="{FF2B5EF4-FFF2-40B4-BE49-F238E27FC236}">
                      <a16:creationId xmlns:a16="http://schemas.microsoft.com/office/drawing/2014/main" id="{1E3C0E42-BC85-8120-0392-5C6446639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9166363" y="2362178"/>
                  <a:ext cx="3417852" cy="805803"/>
                </a:xfrm>
                <a:prstGeom prst="rect">
                  <a:avLst/>
                </a:prstGeom>
              </p:spPr>
            </p:pic>
          </p:grpSp>
          <p:grpSp>
            <p:nvGrpSpPr>
              <p:cNvPr id="15" name="그룹 1021">
                <a:extLst>
                  <a:ext uri="{FF2B5EF4-FFF2-40B4-BE49-F238E27FC236}">
                    <a16:creationId xmlns:a16="http://schemas.microsoft.com/office/drawing/2014/main" id="{7FDE0A1C-69B5-EDD5-68AB-C22CA8385310}"/>
                  </a:ext>
                </a:extLst>
              </p:cNvPr>
              <p:cNvGrpSpPr/>
              <p:nvPr/>
            </p:nvGrpSpPr>
            <p:grpSpPr>
              <a:xfrm>
                <a:off x="9136773" y="2436345"/>
                <a:ext cx="3430334" cy="553999"/>
                <a:chOff x="9136773" y="2436345"/>
                <a:chExt cx="3430334" cy="553999"/>
              </a:xfrm>
            </p:grpSpPr>
            <p:sp>
              <p:nvSpPr>
                <p:cNvPr id="16" name="Object 64">
                  <a:extLst>
                    <a:ext uri="{FF2B5EF4-FFF2-40B4-BE49-F238E27FC236}">
                      <a16:creationId xmlns:a16="http://schemas.microsoft.com/office/drawing/2014/main" id="{8CC7A103-4DA5-DEB4-9428-B8E342983B59}"/>
                    </a:ext>
                  </a:extLst>
                </p:cNvPr>
                <p:cNvSpPr txBox="1"/>
                <p:nvPr/>
              </p:nvSpPr>
              <p:spPr>
                <a:xfrm>
                  <a:off x="9556174" y="2444076"/>
                  <a:ext cx="3010933" cy="53851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733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PP</a:t>
                  </a:r>
                  <a:endParaRPr lang="en-US" sz="1200" dirty="0"/>
                </a:p>
              </p:txBody>
            </p:sp>
            <p:sp>
              <p:nvSpPr>
                <p:cNvPr id="17" name="Object 65">
                  <a:extLst>
                    <a:ext uri="{FF2B5EF4-FFF2-40B4-BE49-F238E27FC236}">
                      <a16:creationId xmlns:a16="http://schemas.microsoft.com/office/drawing/2014/main" id="{B3355535-E900-E634-EBF4-657180372BEC}"/>
                    </a:ext>
                  </a:extLst>
                </p:cNvPr>
                <p:cNvSpPr txBox="1"/>
                <p:nvPr/>
              </p:nvSpPr>
              <p:spPr>
                <a:xfrm>
                  <a:off x="9136773" y="2436345"/>
                  <a:ext cx="722983" cy="553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kern="0" spc="67" dirty="0">
                      <a:solidFill>
                        <a:srgbClr val="000000"/>
                      </a:solidFill>
                      <a:latin typeface="210 Gulim 050" pitchFamily="34" charset="0"/>
                      <a:cs typeface="210 Gulim 050" pitchFamily="34" charset="0"/>
                    </a:rPr>
                    <a:t>3</a:t>
                  </a:r>
                  <a:endParaRPr lang="en-US" sz="1200" dirty="0"/>
                </a:p>
              </p:txBody>
            </p:sp>
          </p:grpSp>
        </p:grpSp>
      </p:grpSp>
      <p:sp>
        <p:nvSpPr>
          <p:cNvPr id="42" name="Object 77">
            <a:extLst>
              <a:ext uri="{FF2B5EF4-FFF2-40B4-BE49-F238E27FC236}">
                <a16:creationId xmlns:a16="http://schemas.microsoft.com/office/drawing/2014/main" id="{217F8716-3F4B-771A-4E55-F17F6D98E9CF}"/>
              </a:ext>
            </a:extLst>
          </p:cNvPr>
          <p:cNvSpPr txBox="1"/>
          <p:nvPr/>
        </p:nvSpPr>
        <p:spPr>
          <a:xfrm>
            <a:off x="1896995" y="1987399"/>
            <a:ext cx="773673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39%</a:t>
            </a:r>
            <a:endParaRPr lang="en-US" sz="1200" dirty="0"/>
          </a:p>
        </p:txBody>
      </p:sp>
      <p:sp>
        <p:nvSpPr>
          <p:cNvPr id="43" name="Object 78">
            <a:extLst>
              <a:ext uri="{FF2B5EF4-FFF2-40B4-BE49-F238E27FC236}">
                <a16:creationId xmlns:a16="http://schemas.microsoft.com/office/drawing/2014/main" id="{918C8AE8-DAFA-D052-A835-5C91C104C974}"/>
              </a:ext>
            </a:extLst>
          </p:cNvPr>
          <p:cNvSpPr txBox="1"/>
          <p:nvPr/>
        </p:nvSpPr>
        <p:spPr>
          <a:xfrm>
            <a:off x="9766489" y="2053136"/>
            <a:ext cx="798129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12%</a:t>
            </a:r>
            <a:endParaRPr lang="en-US" sz="1200" dirty="0"/>
          </a:p>
        </p:txBody>
      </p:sp>
      <p:sp>
        <p:nvSpPr>
          <p:cNvPr id="44" name="Object 79">
            <a:extLst>
              <a:ext uri="{FF2B5EF4-FFF2-40B4-BE49-F238E27FC236}">
                <a16:creationId xmlns:a16="http://schemas.microsoft.com/office/drawing/2014/main" id="{A4930684-7417-6CBD-B8A9-A70564110028}"/>
              </a:ext>
            </a:extLst>
          </p:cNvPr>
          <p:cNvSpPr txBox="1"/>
          <p:nvPr/>
        </p:nvSpPr>
        <p:spPr>
          <a:xfrm>
            <a:off x="7124485" y="2028885"/>
            <a:ext cx="879222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19%</a:t>
            </a:r>
            <a:endParaRPr lang="en-US" sz="1200" dirty="0"/>
          </a:p>
        </p:txBody>
      </p:sp>
      <p:sp>
        <p:nvSpPr>
          <p:cNvPr id="45" name="Object 80">
            <a:extLst>
              <a:ext uri="{FF2B5EF4-FFF2-40B4-BE49-F238E27FC236}">
                <a16:creationId xmlns:a16="http://schemas.microsoft.com/office/drawing/2014/main" id="{50F63206-2B8D-D177-050D-CF0326D99DAB}"/>
              </a:ext>
            </a:extLst>
          </p:cNvPr>
          <p:cNvSpPr txBox="1"/>
          <p:nvPr/>
        </p:nvSpPr>
        <p:spPr>
          <a:xfrm>
            <a:off x="4568315" y="2020993"/>
            <a:ext cx="901352" cy="471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67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29%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98673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6">
            <a:extLst>
              <a:ext uri="{FF2B5EF4-FFF2-40B4-BE49-F238E27FC236}">
                <a16:creationId xmlns:a16="http://schemas.microsoft.com/office/drawing/2014/main" id="{9CEDE7BC-9C6A-21F7-F9CF-C5B4AE3B83FB}"/>
              </a:ext>
            </a:extLst>
          </p:cNvPr>
          <p:cNvGrpSpPr/>
          <p:nvPr/>
        </p:nvGrpSpPr>
        <p:grpSpPr>
          <a:xfrm>
            <a:off x="6592671" y="2139256"/>
            <a:ext cx="4406334" cy="3790054"/>
            <a:chOff x="10061959" y="4460937"/>
            <a:chExt cx="6104626" cy="4241803"/>
          </a:xfrm>
        </p:grpSpPr>
        <p:pic>
          <p:nvPicPr>
            <p:cNvPr id="5" name="Object 19">
              <a:extLst>
                <a:ext uri="{FF2B5EF4-FFF2-40B4-BE49-F238E27FC236}">
                  <a16:creationId xmlns:a16="http://schemas.microsoft.com/office/drawing/2014/main" id="{5F0D8FC7-6ABB-D3DE-F1A9-C6585F65A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61959" y="4460937"/>
              <a:ext cx="6104626" cy="424180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6" name="Object 23">
            <a:extLst>
              <a:ext uri="{FF2B5EF4-FFF2-40B4-BE49-F238E27FC236}">
                <a16:creationId xmlns:a16="http://schemas.microsoft.com/office/drawing/2014/main" id="{A6CC6D5C-0974-A814-9C84-D0E621397BB7}"/>
              </a:ext>
            </a:extLst>
          </p:cNvPr>
          <p:cNvSpPr txBox="1"/>
          <p:nvPr/>
        </p:nvSpPr>
        <p:spPr>
          <a:xfrm>
            <a:off x="5076749" y="769134"/>
            <a:ext cx="711525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라벨 데이터</a:t>
            </a:r>
          </a:p>
          <a:p>
            <a:pPr algn="ctr"/>
            <a:endParaRPr lang="en-US" sz="1200" dirty="0"/>
          </a:p>
        </p:txBody>
      </p:sp>
      <p:pic>
        <p:nvPicPr>
          <p:cNvPr id="8" name="Object 30">
            <a:extLst>
              <a:ext uri="{FF2B5EF4-FFF2-40B4-BE49-F238E27FC236}">
                <a16:creationId xmlns:a16="http://schemas.microsoft.com/office/drawing/2014/main" id="{2709B607-3337-21F7-BD8B-1A9D2C131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3025" y="2139256"/>
            <a:ext cx="4256306" cy="3790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Object 33">
            <a:extLst>
              <a:ext uri="{FF2B5EF4-FFF2-40B4-BE49-F238E27FC236}">
                <a16:creationId xmlns:a16="http://schemas.microsoft.com/office/drawing/2014/main" id="{B63D21A9-CC41-2D04-6698-87ACE3CCBC8F}"/>
              </a:ext>
            </a:extLst>
          </p:cNvPr>
          <p:cNvSpPr txBox="1"/>
          <p:nvPr/>
        </p:nvSpPr>
        <p:spPr>
          <a:xfrm>
            <a:off x="-86448" y="769135"/>
            <a:ext cx="711525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210 Gulim 070" pitchFamily="34" charset="0"/>
                <a:cs typeface="210 Gulim 070" pitchFamily="34" charset="0"/>
              </a:rPr>
              <a:t>원천 데이터</a:t>
            </a:r>
          </a:p>
          <a:p>
            <a:pPr algn="ctr"/>
            <a:endParaRPr lang="en-US" sz="1200" dirty="0"/>
          </a:p>
        </p:txBody>
      </p:sp>
      <p:sp>
        <p:nvSpPr>
          <p:cNvPr id="10" name="Object 24">
            <a:extLst>
              <a:ext uri="{FF2B5EF4-FFF2-40B4-BE49-F238E27FC236}">
                <a16:creationId xmlns:a16="http://schemas.microsoft.com/office/drawing/2014/main" id="{404F43FE-2479-9D5C-8A94-4C4BAB8CD097}"/>
              </a:ext>
            </a:extLst>
          </p:cNvPr>
          <p:cNvSpPr txBox="1"/>
          <p:nvPr/>
        </p:nvSpPr>
        <p:spPr>
          <a:xfrm>
            <a:off x="6006454" y="1312393"/>
            <a:ext cx="526753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210 Gulim 050" pitchFamily="34" charset="0"/>
                <a:cs typeface="210 Gulim 050" pitchFamily="34" charset="0"/>
              </a:rPr>
              <a:t>.json</a:t>
            </a:r>
            <a:endParaRPr lang="en-US" sz="1200" dirty="0"/>
          </a:p>
        </p:txBody>
      </p:sp>
      <p:sp>
        <p:nvSpPr>
          <p:cNvPr id="11" name="Object 34">
            <a:extLst>
              <a:ext uri="{FF2B5EF4-FFF2-40B4-BE49-F238E27FC236}">
                <a16:creationId xmlns:a16="http://schemas.microsoft.com/office/drawing/2014/main" id="{D22A9E84-0C8E-57DB-912F-59E37D28FACE}"/>
              </a:ext>
            </a:extLst>
          </p:cNvPr>
          <p:cNvSpPr txBox="1"/>
          <p:nvPr/>
        </p:nvSpPr>
        <p:spPr>
          <a:xfrm>
            <a:off x="843257" y="1312393"/>
            <a:ext cx="526753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210 Gulim 050" pitchFamily="34" charset="0"/>
                <a:cs typeface="210 Gulim 050" pitchFamily="34" charset="0"/>
              </a:rPr>
              <a:t>이미지 (.jpg)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9789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6F3AF380-C44D-59A6-EC77-4CE58205BAA1}"/>
              </a:ext>
            </a:extLst>
          </p:cNvPr>
          <p:cNvGraphicFramePr/>
          <p:nvPr/>
        </p:nvGraphicFramePr>
        <p:xfrm>
          <a:off x="6206581" y="1065049"/>
          <a:ext cx="5496427" cy="5019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09DEAE1-D2A6-DDFD-FFC3-558ECFFFCD83}"/>
              </a:ext>
            </a:extLst>
          </p:cNvPr>
          <p:cNvSpPr txBox="1"/>
          <p:nvPr/>
        </p:nvSpPr>
        <p:spPr>
          <a:xfrm>
            <a:off x="917716" y="664939"/>
            <a:ext cx="5209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종류별로 </a:t>
            </a:r>
            <a:r>
              <a:rPr lang="en-US" altLang="ko-KR" sz="2000" dirty="0"/>
              <a:t>100</a:t>
            </a:r>
            <a:r>
              <a:rPr lang="ko-KR" altLang="en-US" sz="2000" dirty="0"/>
              <a:t>개씩 선택하여 데이터 축소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7619846-2DC9-4FDD-4FF3-0934706C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53" y="1220718"/>
            <a:ext cx="2172003" cy="231489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63C8A7C-7BAE-07A7-9FE9-A4F2064A6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866" y="1239769"/>
            <a:ext cx="2152950" cy="229584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0A6C66E-0AD3-E122-3C01-87EB311A7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18" y="4013266"/>
            <a:ext cx="2172002" cy="223868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8676863-9D83-4101-91E0-4C2D303B5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866" y="3982088"/>
            <a:ext cx="2152950" cy="226726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226C17F-5446-D7F4-A087-CB922A7EB94B}"/>
              </a:ext>
            </a:extLst>
          </p:cNvPr>
          <p:cNvSpPr txBox="1"/>
          <p:nvPr/>
        </p:nvSpPr>
        <p:spPr>
          <a:xfrm>
            <a:off x="1417505" y="3535616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PE_068 100</a:t>
            </a:r>
            <a:r>
              <a:rPr lang="ko-KR" altLang="en-US" sz="1400" dirty="0"/>
              <a:t>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F2FF33-EE56-0F4B-7B2B-10DB4F6CF891}"/>
              </a:ext>
            </a:extLst>
          </p:cNvPr>
          <p:cNvSpPr txBox="1"/>
          <p:nvPr/>
        </p:nvSpPr>
        <p:spPr>
          <a:xfrm>
            <a:off x="4053631" y="3539966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PE_070 100</a:t>
            </a:r>
            <a:r>
              <a:rPr lang="ko-KR" altLang="en-US" sz="1400" dirty="0"/>
              <a:t>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474DE5-ABB3-C62A-7776-FBB0400AA203}"/>
              </a:ext>
            </a:extLst>
          </p:cNvPr>
          <p:cNvSpPr txBox="1"/>
          <p:nvPr/>
        </p:nvSpPr>
        <p:spPr>
          <a:xfrm>
            <a:off x="1417504" y="6280563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PS_031 100</a:t>
            </a:r>
            <a:r>
              <a:rPr lang="ko-KR" altLang="en-US" sz="1400" dirty="0"/>
              <a:t>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EB44E1-6379-7826-2379-4091B34290BF}"/>
              </a:ext>
            </a:extLst>
          </p:cNvPr>
          <p:cNvSpPr txBox="1"/>
          <p:nvPr/>
        </p:nvSpPr>
        <p:spPr>
          <a:xfrm>
            <a:off x="4053631" y="6280563"/>
            <a:ext cx="131541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PS_033 100</a:t>
            </a:r>
            <a:r>
              <a:rPr lang="ko-KR" altLang="en-US" sz="14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43626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접시, 플래터, 식기, 원이(가) 표시된 사진&#10;&#10;자동 생성된 설명">
            <a:extLst>
              <a:ext uri="{FF2B5EF4-FFF2-40B4-BE49-F238E27FC236}">
                <a16:creationId xmlns:a16="http://schemas.microsoft.com/office/drawing/2014/main" id="{4F04F2C2-9C90-6530-8F82-66D205B36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369" y="1722455"/>
            <a:ext cx="4290130" cy="4280076"/>
          </a:xfrm>
          <a:prstGeom prst="rect">
            <a:avLst/>
          </a:prstGeom>
        </p:spPr>
      </p:pic>
      <p:pic>
        <p:nvPicPr>
          <p:cNvPr id="7" name="그림 6" descr="접시, 도자기, 주방용품, 서브웨어이(가) 표시된 사진&#10;&#10;자동 생성된 설명">
            <a:extLst>
              <a:ext uri="{FF2B5EF4-FFF2-40B4-BE49-F238E27FC236}">
                <a16:creationId xmlns:a16="http://schemas.microsoft.com/office/drawing/2014/main" id="{D10CB4F9-B832-4314-4560-707E22B2D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572" y="1722455"/>
            <a:ext cx="4290130" cy="42800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89E6451-D177-2A3C-5F85-7A0E8451BC03}"/>
              </a:ext>
            </a:extLst>
          </p:cNvPr>
          <p:cNvSpPr/>
          <p:nvPr/>
        </p:nvSpPr>
        <p:spPr>
          <a:xfrm>
            <a:off x="2939342" y="3675015"/>
            <a:ext cx="935975" cy="905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1977B-5328-7B71-DC02-D5DD47FDDB0F}"/>
              </a:ext>
            </a:extLst>
          </p:cNvPr>
          <p:cNvSpPr txBox="1"/>
          <p:nvPr/>
        </p:nvSpPr>
        <p:spPr>
          <a:xfrm>
            <a:off x="408487" y="438595"/>
            <a:ext cx="7943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Bounding</a:t>
            </a:r>
            <a:r>
              <a:rPr lang="ko-KR" altLang="en-US" sz="3200" dirty="0"/>
              <a:t> </a:t>
            </a:r>
            <a:r>
              <a:rPr lang="en-US" altLang="ko-KR" sz="3200" dirty="0"/>
              <a:t>Box</a:t>
            </a:r>
            <a:r>
              <a:rPr lang="ko-KR" altLang="en-US" sz="3200" dirty="0"/>
              <a:t>을 이용하여 이미지 </a:t>
            </a:r>
            <a:r>
              <a:rPr lang="ko-KR" altLang="en-US" sz="3200" dirty="0" err="1"/>
              <a:t>크롭</a:t>
            </a:r>
            <a:endParaRPr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951D6-21D7-4E52-7D61-00C8E6B502DE}"/>
              </a:ext>
            </a:extLst>
          </p:cNvPr>
          <p:cNvSpPr txBox="1"/>
          <p:nvPr/>
        </p:nvSpPr>
        <p:spPr>
          <a:xfrm>
            <a:off x="2501637" y="1188246"/>
            <a:ext cx="181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BEFORE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9ED17-60CA-38C3-087F-0B0FE3B555F9}"/>
              </a:ext>
            </a:extLst>
          </p:cNvPr>
          <p:cNvSpPr txBox="1"/>
          <p:nvPr/>
        </p:nvSpPr>
        <p:spPr>
          <a:xfrm>
            <a:off x="7878980" y="1188246"/>
            <a:ext cx="181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AFTER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3733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E62CBAC6-BD20-EF1C-1CE2-6BB120294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390" y="2507059"/>
            <a:ext cx="9263219" cy="278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E8402F-FE69-02EC-5914-B6127E9C2ED5}"/>
              </a:ext>
            </a:extLst>
          </p:cNvPr>
          <p:cNvSpPr txBox="1"/>
          <p:nvPr/>
        </p:nvSpPr>
        <p:spPr>
          <a:xfrm>
            <a:off x="655594" y="861677"/>
            <a:ext cx="2540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0" i="0" dirty="0">
                <a:solidFill>
                  <a:srgbClr val="374151"/>
                </a:solidFill>
                <a:effectLst/>
                <a:latin typeface="Söhne"/>
              </a:rPr>
              <a:t>VGGNet-16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7112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volutional Neural Networks — A Beginner's Guide | by Krut Patel |  Towards Data Science">
            <a:extLst>
              <a:ext uri="{FF2B5EF4-FFF2-40B4-BE49-F238E27FC236}">
                <a16:creationId xmlns:a16="http://schemas.microsoft.com/office/drawing/2014/main" id="{A57CC002-611F-9B1D-B828-C73F9E039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585" y="627305"/>
            <a:ext cx="6877520" cy="267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8F46EE-5B85-DFA6-A327-EEC2744E1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444" y="3553119"/>
            <a:ext cx="6012203" cy="21332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E3283E-1345-731D-9D3B-7A645ED12509}"/>
              </a:ext>
            </a:extLst>
          </p:cNvPr>
          <p:cNvSpPr txBox="1"/>
          <p:nvPr/>
        </p:nvSpPr>
        <p:spPr>
          <a:xfrm>
            <a:off x="770641" y="1554403"/>
            <a:ext cx="32209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/>
              <a:t>Convolution</a:t>
            </a:r>
            <a:endParaRPr lang="ko-KR" alt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2D30A-C7DA-3C64-CDFE-8E9DD29B10DC}"/>
              </a:ext>
            </a:extLst>
          </p:cNvPr>
          <p:cNvSpPr txBox="1"/>
          <p:nvPr/>
        </p:nvSpPr>
        <p:spPr>
          <a:xfrm>
            <a:off x="921470" y="4183088"/>
            <a:ext cx="2773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Max Pooling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88540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872AA7-FEAA-6C6D-3419-5269E3A28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588" y="1093751"/>
            <a:ext cx="8290823" cy="467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989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67E6A-85C9-9860-AD70-6B154554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C1B86-191A-8684-E646-868199BC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8607"/>
          </a:xfrm>
        </p:spPr>
        <p:txBody>
          <a:bodyPr/>
          <a:lstStyle/>
          <a:p>
            <a:r>
              <a:rPr lang="en-US" altLang="ko-KR" dirty="0"/>
              <a:t>Train: validation : test = 6:2:2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956526-A699-FF4C-7F54-29E14D163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95" y="2850564"/>
            <a:ext cx="11804210" cy="259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23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67E6A-85C9-9860-AD70-6B154554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C1B86-191A-8684-E646-868199BC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911"/>
            <a:ext cx="10515600" cy="548607"/>
          </a:xfrm>
        </p:spPr>
        <p:txBody>
          <a:bodyPr/>
          <a:lstStyle/>
          <a:p>
            <a:r>
              <a:rPr lang="ko-KR" altLang="en-US" dirty="0"/>
              <a:t>이미지 데이터 정규화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AA64F4-06BC-39B0-2C7D-5978E8A09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01518"/>
            <a:ext cx="6227209" cy="9498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7865E7-9B61-8C35-00E6-E78B61F83C25}"/>
              </a:ext>
            </a:extLst>
          </p:cNvPr>
          <p:cNvSpPr txBox="1"/>
          <p:nvPr/>
        </p:nvSpPr>
        <p:spPr>
          <a:xfrm>
            <a:off x="7479062" y="2110729"/>
            <a:ext cx="3461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 이미지의 픽셀 값을 모델에 최적화된 방식으로 정규화</a:t>
            </a:r>
            <a:endParaRPr lang="en-US" altLang="ko-KR" dirty="0"/>
          </a:p>
          <a:p>
            <a:r>
              <a:rPr lang="en-US" altLang="ko-KR" dirty="0" err="1"/>
              <a:t>Numpy</a:t>
            </a:r>
            <a:r>
              <a:rPr lang="en-US" altLang="ko-KR" dirty="0"/>
              <a:t> array</a:t>
            </a:r>
            <a:r>
              <a:rPr lang="ko-KR" altLang="en-US" dirty="0"/>
              <a:t>형태로 가져옴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BB72B44-44A7-8237-6F80-F3EB403FE7F0}"/>
              </a:ext>
            </a:extLst>
          </p:cNvPr>
          <p:cNvSpPr txBox="1">
            <a:spLocks/>
          </p:cNvSpPr>
          <p:nvPr/>
        </p:nvSpPr>
        <p:spPr>
          <a:xfrm>
            <a:off x="838200" y="3819748"/>
            <a:ext cx="10515600" cy="548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EDA912E-611D-B6CF-BC05-5B43417BE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42" y="3992096"/>
            <a:ext cx="6211167" cy="25340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1F96FF-D9E7-B513-DC09-0F705ABD3627}"/>
              </a:ext>
            </a:extLst>
          </p:cNvPr>
          <p:cNvSpPr txBox="1"/>
          <p:nvPr/>
        </p:nvSpPr>
        <p:spPr>
          <a:xfrm>
            <a:off x="7479062" y="4111684"/>
            <a:ext cx="3461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디렉토리 내부의 하위 디렉토리 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(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클래스 레이블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)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구조를 기반으로 이미지 데이터를 자동으로 로드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</a:p>
          <a:p>
            <a:endParaRPr lang="en-US" altLang="ko-KR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dirty="0" err="1">
                <a:solidFill>
                  <a:srgbClr val="374151"/>
                </a:solidFill>
                <a:latin typeface="Söhne"/>
              </a:rPr>
              <a:t>Batch_sise</a:t>
            </a:r>
            <a:r>
              <a:rPr lang="en-US" altLang="ko-KR" dirty="0">
                <a:solidFill>
                  <a:srgbClr val="374151"/>
                </a:solidFill>
                <a:latin typeface="Söhne"/>
              </a:rPr>
              <a:t> = 64</a:t>
            </a:r>
          </a:p>
          <a:p>
            <a:r>
              <a:rPr lang="en-US" altLang="ko-KR" dirty="0">
                <a:solidFill>
                  <a:srgbClr val="374151"/>
                </a:solidFill>
                <a:latin typeface="Söhne"/>
              </a:rPr>
              <a:t>Width, height = 64, 64</a:t>
            </a:r>
          </a:p>
          <a:p>
            <a:r>
              <a:rPr lang="en-US" altLang="ko-KR" dirty="0" err="1">
                <a:solidFill>
                  <a:srgbClr val="374151"/>
                </a:solidFill>
                <a:latin typeface="Söhne"/>
              </a:rPr>
              <a:t>Num_classes</a:t>
            </a:r>
            <a:r>
              <a:rPr lang="en-US" altLang="ko-KR" dirty="0">
                <a:solidFill>
                  <a:srgbClr val="374151"/>
                </a:solidFill>
                <a:latin typeface="Söhne"/>
              </a:rPr>
              <a:t> = 2 </a:t>
            </a:r>
          </a:p>
          <a:p>
            <a:endParaRPr lang="en-US" altLang="ko-KR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E6FC4E4C-D539-3BA8-19EC-F98CED00724A}"/>
              </a:ext>
            </a:extLst>
          </p:cNvPr>
          <p:cNvSpPr txBox="1">
            <a:spLocks/>
          </p:cNvSpPr>
          <p:nvPr/>
        </p:nvSpPr>
        <p:spPr>
          <a:xfrm>
            <a:off x="838200" y="3357315"/>
            <a:ext cx="10515600" cy="548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데이터 로드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4830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67E6A-85C9-9860-AD70-6B154554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C1B86-191A-8684-E646-868199BC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8607"/>
          </a:xfrm>
        </p:spPr>
        <p:txBody>
          <a:bodyPr/>
          <a:lstStyle/>
          <a:p>
            <a:r>
              <a:rPr lang="ko-KR" altLang="en-US" dirty="0"/>
              <a:t>모델 정의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95F7A1-F6C2-EC8B-DBF6-8DE6FCC4C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28" y="2509169"/>
            <a:ext cx="5601482" cy="31817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D243FC-9E9C-D9E9-77DE-4ACD8DE5A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682" y="2509169"/>
            <a:ext cx="508681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17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67E6A-85C9-9860-AD70-6B154554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C1B86-191A-8684-E646-868199BCC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869"/>
            <a:ext cx="10515600" cy="548607"/>
          </a:xfrm>
        </p:spPr>
        <p:txBody>
          <a:bodyPr/>
          <a:lstStyle/>
          <a:p>
            <a:r>
              <a:rPr lang="ko-KR" altLang="en-US" dirty="0"/>
              <a:t>모델 학습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11D1A3-3604-2519-07CF-483FDD246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35745"/>
            <a:ext cx="6644863" cy="4030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62F7E1-52E6-AC2A-93EB-C3F2CA897F42}"/>
              </a:ext>
            </a:extLst>
          </p:cNvPr>
          <p:cNvSpPr txBox="1"/>
          <p:nvPr/>
        </p:nvSpPr>
        <p:spPr>
          <a:xfrm>
            <a:off x="7796462" y="2735215"/>
            <a:ext cx="2855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Epoch = 10</a:t>
            </a:r>
            <a:r>
              <a:rPr lang="ko-KR" altLang="en-US" dirty="0"/>
              <a:t>으로 설정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B3AE55-7081-D487-A864-647072DE4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868" y="3257220"/>
            <a:ext cx="4225294" cy="251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91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89D62-27FE-2F17-5745-BA410726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EB4186-338B-48DD-C715-EEFED6BC9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61774"/>
            <a:ext cx="4953001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10B420-C948-040F-F25C-5FCA4141CB83}"/>
              </a:ext>
            </a:extLst>
          </p:cNvPr>
          <p:cNvSpPr txBox="1"/>
          <p:nvPr/>
        </p:nvSpPr>
        <p:spPr>
          <a:xfrm>
            <a:off x="2422358" y="1690688"/>
            <a:ext cx="221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Loss</a:t>
            </a:r>
            <a:r>
              <a:rPr lang="ko-KR" altLang="en-US" dirty="0"/>
              <a:t>에 대한 그래프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3DF34-4E26-E4F2-1DBC-1B00A78910DB}"/>
              </a:ext>
            </a:extLst>
          </p:cNvPr>
          <p:cNvSpPr txBox="1"/>
          <p:nvPr/>
        </p:nvSpPr>
        <p:spPr>
          <a:xfrm>
            <a:off x="1588168" y="5846544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에폭이</a:t>
            </a:r>
            <a:r>
              <a:rPr lang="ko-KR" altLang="en-US" dirty="0"/>
              <a:t> 증가할 수록 </a:t>
            </a:r>
            <a:r>
              <a:rPr lang="en-US" altLang="ko-KR" dirty="0"/>
              <a:t>train</a:t>
            </a:r>
            <a:r>
              <a:rPr lang="ko-KR" altLang="en-US" dirty="0"/>
              <a:t>과 </a:t>
            </a:r>
            <a:r>
              <a:rPr lang="en-US" altLang="ko-KR" dirty="0"/>
              <a:t>validation</a:t>
            </a:r>
            <a:r>
              <a:rPr lang="ko-KR" altLang="en-US" dirty="0"/>
              <a:t>의 </a:t>
            </a:r>
            <a:r>
              <a:rPr lang="en-US" altLang="ko-KR" dirty="0"/>
              <a:t>loss</a:t>
            </a:r>
            <a:r>
              <a:rPr lang="ko-KR" altLang="en-US" dirty="0"/>
              <a:t>가 감소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E77943A-97B1-5543-625E-045FA67AC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2060020"/>
            <a:ext cx="5021793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316F47-32B2-4C50-B068-351A1D3DE525}"/>
              </a:ext>
            </a:extLst>
          </p:cNvPr>
          <p:cNvSpPr txBox="1"/>
          <p:nvPr/>
        </p:nvSpPr>
        <p:spPr>
          <a:xfrm>
            <a:off x="7997296" y="1690688"/>
            <a:ext cx="2213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</a:t>
            </a:r>
            <a:r>
              <a:rPr lang="ko-KR" altLang="en-US" dirty="0"/>
              <a:t>에 대한 그래프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93865-E016-17AB-8D08-FCC4E1DC6A94}"/>
              </a:ext>
            </a:extLst>
          </p:cNvPr>
          <p:cNvSpPr txBox="1"/>
          <p:nvPr/>
        </p:nvSpPr>
        <p:spPr>
          <a:xfrm>
            <a:off x="7580201" y="5846543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에폭이</a:t>
            </a:r>
            <a:r>
              <a:rPr lang="ko-KR" altLang="en-US" dirty="0"/>
              <a:t> 증가할 수록 </a:t>
            </a:r>
            <a:r>
              <a:rPr lang="en-US" altLang="ko-KR" dirty="0"/>
              <a:t>train</a:t>
            </a:r>
            <a:r>
              <a:rPr lang="ko-KR" altLang="en-US" dirty="0"/>
              <a:t>과 </a:t>
            </a:r>
            <a:r>
              <a:rPr lang="en-US" altLang="ko-KR" dirty="0"/>
              <a:t>validation</a:t>
            </a:r>
            <a:r>
              <a:rPr lang="ko-KR" altLang="en-US" dirty="0"/>
              <a:t>의 정확도가 증가</a:t>
            </a:r>
          </a:p>
        </p:txBody>
      </p:sp>
    </p:spTree>
    <p:extLst>
      <p:ext uri="{BB962C8B-B14F-4D97-AF65-F5344CB8AC3E}">
        <p14:creationId xmlns:p14="http://schemas.microsoft.com/office/powerpoint/2010/main" val="20662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524</Words>
  <Application>Microsoft Office PowerPoint</Application>
  <PresentationFormat>와이드스크린</PresentationFormat>
  <Paragraphs>98</Paragraphs>
  <Slides>15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210 Gulim 050</vt:lpstr>
      <vt:lpstr>210 Gulim 070</vt:lpstr>
      <vt:lpstr>Söhne</vt:lpstr>
      <vt:lpstr>맑은 고딕</vt:lpstr>
      <vt:lpstr>함초롬바탕</vt:lpstr>
      <vt:lpstr>Arial</vt:lpstr>
      <vt:lpstr>Lato</vt:lpstr>
      <vt:lpstr>Office 테마</vt:lpstr>
      <vt:lpstr>폐플라스틱 이미지 분류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VGG-16 전처리</vt:lpstr>
      <vt:lpstr>VGG-16 전처리</vt:lpstr>
      <vt:lpstr>VGG-16</vt:lpstr>
      <vt:lpstr>VGG-16</vt:lpstr>
      <vt:lpstr>VGG-16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폐플라스틱 이미지 분류</dc:title>
  <dc:creator>이 규린</dc:creator>
  <cp:lastModifiedBy>hanys0716@naver.com</cp:lastModifiedBy>
  <cp:revision>2</cp:revision>
  <dcterms:created xsi:type="dcterms:W3CDTF">2023-06-01T01:55:39Z</dcterms:created>
  <dcterms:modified xsi:type="dcterms:W3CDTF">2023-06-01T08:33:10Z</dcterms:modified>
</cp:coreProperties>
</file>