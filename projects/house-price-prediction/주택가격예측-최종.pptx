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5"/>
  </p:handoutMasterIdLst>
  <p:sldIdLst>
    <p:sldId id="271" r:id="rId2"/>
    <p:sldId id="260" r:id="rId3"/>
    <p:sldId id="315" r:id="rId4"/>
    <p:sldId id="307" r:id="rId5"/>
    <p:sldId id="300" r:id="rId6"/>
    <p:sldId id="272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63" r:id="rId19"/>
    <p:sldId id="298" r:id="rId20"/>
    <p:sldId id="301" r:id="rId21"/>
    <p:sldId id="302" r:id="rId22"/>
    <p:sldId id="303" r:id="rId23"/>
    <p:sldId id="304" r:id="rId24"/>
    <p:sldId id="305" r:id="rId25"/>
    <p:sldId id="306" r:id="rId26"/>
    <p:sldId id="308" r:id="rId27"/>
    <p:sldId id="310" r:id="rId28"/>
    <p:sldId id="309" r:id="rId29"/>
    <p:sldId id="311" r:id="rId30"/>
    <p:sldId id="314" r:id="rId31"/>
    <p:sldId id="313" r:id="rId32"/>
    <p:sldId id="312" r:id="rId33"/>
    <p:sldId id="266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0"/>
    <a:srgbClr val="878785"/>
    <a:srgbClr val="232524"/>
    <a:srgbClr val="020202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4" d="100"/>
          <a:sy n="44" d="100"/>
        </p:scale>
        <p:origin x="277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7BA2526-F2FD-852D-6A6D-E604C3FEDC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EFDD2E-5054-1308-DEA0-FA9E02FB4F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2D9E1-4C8F-40AF-A670-B7CE4DE36E25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3ABD59-47B2-E9EC-CD77-A2DD0EFAA5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FA690-D415-A630-1919-9C193B2CB3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E2C6A-89D1-46B2-B003-E05D83B5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5640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8EB25-E286-438C-1421-A110DC8CB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741408-E947-E1E6-4050-238E230F3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56D15-F7AE-CF63-3116-A9B66372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3F072-99F6-428E-2705-D46620138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7102CD-BB7F-0EA1-2A92-C3F9392B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301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1E5C7-84F4-F0F8-2951-F9AE3B441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389E8-1842-3E2C-E6D6-12FACFB99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83328-87F6-7C07-34E9-6B4A49FA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459F6F-F05A-EE61-3B00-FE82323A5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85F739-5BC1-ACCC-3C9B-DD73A28C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908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15D84-7CE6-A0F2-0667-EA57BC1A8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3F5A78-3A12-277A-3B43-8E01B7F98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2039BD-DD18-4C38-B2A6-A02B17E6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CB4C60-31DF-3484-1F73-19569065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F9395-0DE1-03D3-B512-1CE8F98C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94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BA161-38CA-38CC-C357-24AD11793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5A4A82-8F0A-EE4A-817C-91D26F8D6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F0A65B-CA04-4AE1-F03D-674E69185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D69A26-C9A9-13FB-875D-7B1BC945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8B5187-8852-69F8-ABD5-3577201D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EB0464-ABC1-C45F-9EA0-DB144509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19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9D0E9-13D2-74D3-E665-5F991C39D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C26A17-35F7-99D9-7366-FAB0FF979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66BE31-FFDA-2967-379C-DDA2A9A89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019151-F5B5-D720-CD42-1CE167948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8644F0-EE76-25AC-2A73-9320DBC97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337B10A-CBE2-B609-9C9C-86A55497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7CC141-4A2B-0C15-F49E-0F79740C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278A82-8291-42D8-B73F-D9718EC8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7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CE1E1-3B1B-3D06-2E24-7C8EBA3AA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AAF925-6A01-E805-01C1-FC78390E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B0ADF6-EEE8-92C0-3CF6-F4EB3D5B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42ABBB-90BB-0811-6DCC-6BCCB495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9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629CB2-0568-42AB-2325-3FADD32A3D92}"/>
              </a:ext>
            </a:extLst>
          </p:cNvPr>
          <p:cNvSpPr txBox="1"/>
          <p:nvPr userDrawn="1"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3DFE36-682F-DC09-A724-559670CC7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501934-2926-874B-AE09-F1DF0352A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54AE85-15A8-DE3E-7F7F-BB026FA5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20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629CB2-0568-42AB-2325-3FADD32A3D92}"/>
              </a:ext>
            </a:extLst>
          </p:cNvPr>
          <p:cNvSpPr txBox="1"/>
          <p:nvPr userDrawn="1"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3DFE36-682F-DC09-A724-559670CC7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501934-2926-874B-AE09-F1DF0352A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54AE85-15A8-DE3E-7F7F-BB026FA5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5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F5F8B4-FA61-C5A4-6E1F-4E42091CD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9D5B68-CAE9-59CF-5324-85F6082C9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B5C652-671D-AC53-8BEB-0C3C4321B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46E39F-5AB2-1E56-0DC1-B87E6EC7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49DBDF-B085-A51E-B9A7-310E65BE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BA9306-8403-D7F0-1F8E-531334FF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0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4FCE0-AB1B-6A8C-EA60-683080EEE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38FEE8-2106-F9AF-5BDF-5422797F2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F2474D-C995-E580-80CB-90DD3F6CF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59263-87B8-2F19-8A62-550D6FD3F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66E237-6083-4DBF-06CB-882458C7C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E778F2-CF74-D0F2-70FB-200CDF6D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09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20EB1-1FF2-665C-573E-2747A778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D2C28E-02C8-A686-F12F-B03A6F8CE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4176C8-47EB-026D-5448-E405A1F5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069171-EE02-9F55-3974-512FEAC7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DA098-9B81-2F70-627F-AD0CF23F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09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3C316D-1BF4-A41C-EBF5-DD8028244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7C1B56-13EB-30F0-ADD2-5E803539D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D26D6D-0050-E804-FD67-8FE3411F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6A7BDA-645E-D0E5-049E-8905CC602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B57EB9-7159-CDE3-53D1-842BF8C1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3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455501-8D4C-C454-7554-BBCD90CF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582C2C-5145-E9BF-E4DC-8FCE36A8F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D905A9-9F08-C368-5AEE-782CD014C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78194-196C-4BEC-8F2E-7F6F76550B38}" type="datetimeFigureOut">
              <a:rPr lang="ko-KR" altLang="en-US" smtClean="0"/>
              <a:t>2023-10-02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513B54-3333-3C70-7D9F-2FD2E8D9C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640ACF-B050-E361-5CE3-AA35524CC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05D80-9EB2-47A7-951C-9685407FC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21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71AA12-4A59-69A5-18CE-87400C331F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32DFB3D-2C22-3864-2968-E8AE5BCF6CDE}"/>
              </a:ext>
            </a:extLst>
          </p:cNvPr>
          <p:cNvSpPr/>
          <p:nvPr/>
        </p:nvSpPr>
        <p:spPr>
          <a:xfrm>
            <a:off x="0" y="-48389"/>
            <a:ext cx="12192000" cy="6858000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E4D47-AAAF-072C-E82F-CE35D166C37E}"/>
              </a:ext>
            </a:extLst>
          </p:cNvPr>
          <p:cNvSpPr txBox="1"/>
          <p:nvPr/>
        </p:nvSpPr>
        <p:spPr>
          <a:xfrm>
            <a:off x="6534148" y="3549351"/>
            <a:ext cx="497610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6000" b="1" dirty="0">
                <a:solidFill>
                  <a:schemeClr val="bg1"/>
                </a:solidFill>
              </a:rPr>
              <a:t>회귀분석을 </a:t>
            </a:r>
            <a:endParaRPr lang="en-US" altLang="ko-KR" sz="6000" b="1" dirty="0">
              <a:solidFill>
                <a:schemeClr val="bg1"/>
              </a:solidFill>
            </a:endParaRPr>
          </a:p>
          <a:p>
            <a:pPr algn="r"/>
            <a:r>
              <a:rPr lang="ko-KR" altLang="en-US" sz="6000" b="1" dirty="0">
                <a:solidFill>
                  <a:schemeClr val="bg1"/>
                </a:solidFill>
              </a:rPr>
              <a:t>활용한 </a:t>
            </a:r>
            <a:endParaRPr lang="en-US" altLang="ko-KR" sz="6000" b="1" dirty="0">
              <a:solidFill>
                <a:schemeClr val="bg1"/>
              </a:solidFill>
            </a:endParaRPr>
          </a:p>
          <a:p>
            <a:pPr algn="r"/>
            <a:r>
              <a:rPr lang="ko-KR" altLang="en-US" sz="6000" b="1" dirty="0">
                <a:solidFill>
                  <a:schemeClr val="bg1"/>
                </a:solidFill>
              </a:rPr>
              <a:t>주택가격 예측</a:t>
            </a:r>
          </a:p>
          <a:p>
            <a:pPr algn="r"/>
            <a:endParaRPr lang="ko-KR" altLang="en-US" sz="60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D7A5A-800D-91D6-2C21-69B2FB458852}"/>
              </a:ext>
            </a:extLst>
          </p:cNvPr>
          <p:cNvSpPr txBox="1"/>
          <p:nvPr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20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36BD49-CE9F-9DB9-6C03-7D721A3C6EB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420" y="378593"/>
            <a:ext cx="11317485" cy="1738965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443C040-2DF2-0CFA-C095-E11F43495F8F}"/>
              </a:ext>
            </a:extLst>
          </p:cNvPr>
          <p:cNvCxnSpPr>
            <a:cxnSpLocks/>
          </p:cNvCxnSpPr>
          <p:nvPr/>
        </p:nvCxnSpPr>
        <p:spPr>
          <a:xfrm>
            <a:off x="877637" y="907716"/>
            <a:ext cx="5358063" cy="0"/>
          </a:xfrm>
          <a:prstGeom prst="line">
            <a:avLst/>
          </a:prstGeom>
          <a:ln w="1905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18C5174-002E-8FB9-7655-0FC41CE52AE0}"/>
              </a:ext>
            </a:extLst>
          </p:cNvPr>
          <p:cNvSpPr txBox="1"/>
          <p:nvPr/>
        </p:nvSpPr>
        <p:spPr>
          <a:xfrm>
            <a:off x="968843" y="1136729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</a:schemeClr>
                </a:solidFill>
              </a:rPr>
              <a:t>목차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3B5107A-D926-DA22-A0DD-6CAE9AE971DA}"/>
              </a:ext>
            </a:extLst>
          </p:cNvPr>
          <p:cNvSpPr/>
          <p:nvPr/>
        </p:nvSpPr>
        <p:spPr>
          <a:xfrm>
            <a:off x="448323" y="2667212"/>
            <a:ext cx="1535598" cy="1535598"/>
          </a:xfrm>
          <a:prstGeom prst="ellipse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9396F-783B-AE52-1832-45DBE9A19E9E}"/>
              </a:ext>
            </a:extLst>
          </p:cNvPr>
          <p:cNvSpPr txBox="1"/>
          <p:nvPr/>
        </p:nvSpPr>
        <p:spPr>
          <a:xfrm>
            <a:off x="874488" y="3211548"/>
            <a:ext cx="730101" cy="649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rPr>
              <a:t>01</a:t>
            </a:r>
            <a:endParaRPr lang="ko-KR" altLang="en-US" sz="3600" b="1" dirty="0">
              <a:solidFill>
                <a:schemeClr val="tx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28916-AB2F-E43B-7C70-2D46F9C28A9C}"/>
              </a:ext>
            </a:extLst>
          </p:cNvPr>
          <p:cNvSpPr txBox="1"/>
          <p:nvPr/>
        </p:nvSpPr>
        <p:spPr>
          <a:xfrm>
            <a:off x="350372" y="3902287"/>
            <a:ext cx="2305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데이터 </a:t>
            </a:r>
            <a:r>
              <a:rPr lang="ko-KR" altLang="en-US" sz="2400" b="1" dirty="0" err="1">
                <a:solidFill>
                  <a:srgbClr val="FF0000"/>
                </a:solidFill>
                <a:latin typeface="+mn-ea"/>
              </a:rPr>
              <a:t>전처리</a:t>
            </a:r>
            <a:endParaRPr lang="ko-KR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9BF79-502A-97AD-1550-3E355761F30C}"/>
              </a:ext>
            </a:extLst>
          </p:cNvPr>
          <p:cNvSpPr txBox="1"/>
          <p:nvPr/>
        </p:nvSpPr>
        <p:spPr>
          <a:xfrm>
            <a:off x="911092" y="4770700"/>
            <a:ext cx="1937986" cy="11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왜도</a:t>
            </a:r>
            <a:endParaRPr lang="en-US" altLang="ko-KR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이상치 제거</a:t>
            </a:r>
            <a:endParaRPr lang="en-US" altLang="ko-KR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결측값</a:t>
            </a: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 처리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12B63E0-3A5C-F9F6-A04C-BD48A4020323}"/>
              </a:ext>
            </a:extLst>
          </p:cNvPr>
          <p:cNvCxnSpPr>
            <a:cxnSpLocks/>
          </p:cNvCxnSpPr>
          <p:nvPr/>
        </p:nvCxnSpPr>
        <p:spPr>
          <a:xfrm flipH="1">
            <a:off x="350371" y="2407942"/>
            <a:ext cx="1123249" cy="13509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988D1117-0D10-C704-F554-8CD758D4F52C}"/>
              </a:ext>
            </a:extLst>
          </p:cNvPr>
          <p:cNvSpPr/>
          <p:nvPr/>
        </p:nvSpPr>
        <p:spPr>
          <a:xfrm>
            <a:off x="3398178" y="2667212"/>
            <a:ext cx="1535598" cy="1535598"/>
          </a:xfrm>
          <a:prstGeom prst="ellipse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644CFF-E20B-4E1D-012D-7AED88854619}"/>
              </a:ext>
            </a:extLst>
          </p:cNvPr>
          <p:cNvSpPr txBox="1"/>
          <p:nvPr/>
        </p:nvSpPr>
        <p:spPr>
          <a:xfrm>
            <a:off x="3824343" y="3211548"/>
            <a:ext cx="798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rPr>
              <a:t>02</a:t>
            </a:r>
            <a:endParaRPr lang="ko-KR" altLang="en-US" sz="3600" b="1" dirty="0">
              <a:solidFill>
                <a:schemeClr val="tx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59A77-31B6-24DE-CF07-3A13A186139D}"/>
              </a:ext>
            </a:extLst>
          </p:cNvPr>
          <p:cNvSpPr txBox="1"/>
          <p:nvPr/>
        </p:nvSpPr>
        <p:spPr>
          <a:xfrm>
            <a:off x="3056846" y="3902287"/>
            <a:ext cx="3375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교차검증 및 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                      </a:t>
            </a:r>
            <a:r>
              <a:rPr lang="ko-KR" altLang="en-US" sz="2400" b="1" dirty="0" err="1">
                <a:solidFill>
                  <a:srgbClr val="FF0000"/>
                </a:solidFill>
                <a:latin typeface="+mn-ea"/>
              </a:rPr>
              <a:t>모델셋업</a:t>
            </a:r>
            <a:endParaRPr lang="ko-KR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F1B0E-D495-3F56-05EA-C331CA78F381}"/>
              </a:ext>
            </a:extLst>
          </p:cNvPr>
          <p:cNvSpPr txBox="1"/>
          <p:nvPr/>
        </p:nvSpPr>
        <p:spPr>
          <a:xfrm>
            <a:off x="3860947" y="4770700"/>
            <a:ext cx="1677472" cy="803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교차 검증</a:t>
            </a:r>
            <a:endParaRPr lang="en-US" altLang="ko-KR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모델 셋업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D0F4ACB-EA6A-2AC4-1DA4-A2225806451E}"/>
              </a:ext>
            </a:extLst>
          </p:cNvPr>
          <p:cNvCxnSpPr>
            <a:cxnSpLocks/>
          </p:cNvCxnSpPr>
          <p:nvPr/>
        </p:nvCxnSpPr>
        <p:spPr>
          <a:xfrm flipH="1">
            <a:off x="3300226" y="2407942"/>
            <a:ext cx="1123200" cy="13509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5940418C-FA88-8E5D-205F-0EEC6A5E0020}"/>
              </a:ext>
            </a:extLst>
          </p:cNvPr>
          <p:cNvSpPr/>
          <p:nvPr/>
        </p:nvSpPr>
        <p:spPr>
          <a:xfrm>
            <a:off x="6348033" y="2667212"/>
            <a:ext cx="1535598" cy="1535598"/>
          </a:xfrm>
          <a:prstGeom prst="ellipse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50124D-00B0-B5AB-113C-6DE6E67D9734}"/>
              </a:ext>
            </a:extLst>
          </p:cNvPr>
          <p:cNvSpPr txBox="1"/>
          <p:nvPr/>
        </p:nvSpPr>
        <p:spPr>
          <a:xfrm>
            <a:off x="6774198" y="3211548"/>
            <a:ext cx="811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rPr>
              <a:t>03</a:t>
            </a:r>
            <a:endParaRPr lang="ko-KR" altLang="en-US" sz="3600" b="1" dirty="0">
              <a:solidFill>
                <a:schemeClr val="tx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4FB922-1B4D-1CC5-8FD0-9F2BC262AECB}"/>
              </a:ext>
            </a:extLst>
          </p:cNvPr>
          <p:cNvSpPr txBox="1"/>
          <p:nvPr/>
        </p:nvSpPr>
        <p:spPr>
          <a:xfrm>
            <a:off x="6065187" y="3902287"/>
            <a:ext cx="3118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0000"/>
                </a:solidFill>
                <a:latin typeface="+mn-ea"/>
              </a:rPr>
              <a:t>스태킹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및 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                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모델 평가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0E8D32-9DA7-D5FA-D855-5F970BFA545D}"/>
              </a:ext>
            </a:extLst>
          </p:cNvPr>
          <p:cNvSpPr txBox="1"/>
          <p:nvPr/>
        </p:nvSpPr>
        <p:spPr>
          <a:xfrm>
            <a:off x="6810802" y="4770700"/>
            <a:ext cx="2144036" cy="191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Stacking</a:t>
            </a: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Score Function</a:t>
            </a: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Evaluation</a:t>
            </a: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Fit Function</a:t>
            </a: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8691888-2A12-714F-4A6E-8D23233FECFC}"/>
              </a:ext>
            </a:extLst>
          </p:cNvPr>
          <p:cNvCxnSpPr>
            <a:cxnSpLocks/>
          </p:cNvCxnSpPr>
          <p:nvPr/>
        </p:nvCxnSpPr>
        <p:spPr>
          <a:xfrm flipH="1">
            <a:off x="6250081" y="2243468"/>
            <a:ext cx="1123200" cy="151543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A710C583-7A03-EDF3-AA61-C3D30401976B}"/>
              </a:ext>
            </a:extLst>
          </p:cNvPr>
          <p:cNvSpPr/>
          <p:nvPr/>
        </p:nvSpPr>
        <p:spPr>
          <a:xfrm>
            <a:off x="9297888" y="2667212"/>
            <a:ext cx="1535598" cy="1535598"/>
          </a:xfrm>
          <a:prstGeom prst="ellipse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10C471-8927-F814-B269-1E16799BB271}"/>
              </a:ext>
            </a:extLst>
          </p:cNvPr>
          <p:cNvSpPr txBox="1"/>
          <p:nvPr/>
        </p:nvSpPr>
        <p:spPr>
          <a:xfrm>
            <a:off x="9724053" y="3211548"/>
            <a:ext cx="82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rPr>
              <a:t>04</a:t>
            </a:r>
            <a:endParaRPr lang="ko-KR" altLang="en-US" sz="3600" b="1" dirty="0">
              <a:solidFill>
                <a:schemeClr val="tx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0C39EC-8682-8AE9-1072-3873A0F86395}"/>
              </a:ext>
            </a:extLst>
          </p:cNvPr>
          <p:cNvSpPr txBox="1"/>
          <p:nvPr/>
        </p:nvSpPr>
        <p:spPr>
          <a:xfrm>
            <a:off x="9015042" y="3902287"/>
            <a:ext cx="3118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0000"/>
                </a:solidFill>
                <a:latin typeface="+mn-ea"/>
              </a:rPr>
              <a:t>블렌딩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및 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                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최종 제출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F0A3B4-82EE-86DC-566B-B64B51F2A90A}"/>
              </a:ext>
            </a:extLst>
          </p:cNvPr>
          <p:cNvSpPr txBox="1"/>
          <p:nvPr/>
        </p:nvSpPr>
        <p:spPr>
          <a:xfrm>
            <a:off x="9760657" y="4770700"/>
            <a:ext cx="2029573" cy="1542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앙상블 기법</a:t>
            </a:r>
            <a:endParaRPr lang="en-US" altLang="ko-KR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블렌딩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RMSE</a:t>
            </a: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값 비교</a:t>
            </a:r>
            <a:endParaRPr lang="en-US" altLang="ko-KR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최종 제출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9EE136F-9507-8497-6BE1-00728E7C6AB9}"/>
              </a:ext>
            </a:extLst>
          </p:cNvPr>
          <p:cNvCxnSpPr>
            <a:cxnSpLocks/>
          </p:cNvCxnSpPr>
          <p:nvPr/>
        </p:nvCxnSpPr>
        <p:spPr>
          <a:xfrm flipH="1">
            <a:off x="9199936" y="2243468"/>
            <a:ext cx="1123200" cy="151543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470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블랙, 무기, 다크이(가) 표시된 사진&#10;&#10;자동 생성된 설명">
            <a:extLst>
              <a:ext uri="{FF2B5EF4-FFF2-40B4-BE49-F238E27FC236}">
                <a16:creationId xmlns:a16="http://schemas.microsoft.com/office/drawing/2014/main" id="{FAA05380-1F76-4B78-C1E8-F8F2126BB6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4D2760-68C3-2F9D-A3C2-ACCB6212A402}"/>
              </a:ext>
            </a:extLst>
          </p:cNvPr>
          <p:cNvSpPr txBox="1"/>
          <p:nvPr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6DE05-B74C-B57E-FC4B-51246B162AAD}"/>
              </a:ext>
            </a:extLst>
          </p:cNvPr>
          <p:cNvSpPr txBox="1"/>
          <p:nvPr/>
        </p:nvSpPr>
        <p:spPr>
          <a:xfrm>
            <a:off x="3347490" y="2105561"/>
            <a:ext cx="549701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600" b="1" dirty="0">
                <a:solidFill>
                  <a:schemeClr val="bg1"/>
                </a:solidFill>
              </a:rPr>
              <a:t>Intro.</a:t>
            </a:r>
            <a:endParaRPr lang="ko-KR" altLang="en-US" sz="1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8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536490-5153-FB96-9CCB-4848A231D4CA}"/>
              </a:ext>
            </a:extLst>
          </p:cNvPr>
          <p:cNvSpPr txBox="1"/>
          <p:nvPr/>
        </p:nvSpPr>
        <p:spPr>
          <a:xfrm>
            <a:off x="1280688" y="191869"/>
            <a:ext cx="1298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Evaluation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F90F30F-410D-3C3F-D855-FC9057DE5CDD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69698632-B19B-2FBF-2418-9EB1F13175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74"/>
          <a:stretch/>
        </p:blipFill>
        <p:spPr>
          <a:xfrm>
            <a:off x="1153688" y="1666786"/>
            <a:ext cx="7925411" cy="1940893"/>
          </a:xfrm>
          <a:prstGeom prst="rect">
            <a:avLst/>
          </a:prstGeom>
        </p:spPr>
      </p:pic>
      <p:pic>
        <p:nvPicPr>
          <p:cNvPr id="6" name="Picture 8" descr="모델 평가항목_RMSE(평균 제곱근 오차) : 네이버 블로그">
            <a:extLst>
              <a:ext uri="{FF2B5EF4-FFF2-40B4-BE49-F238E27FC236}">
                <a16:creationId xmlns:a16="http://schemas.microsoft.com/office/drawing/2014/main" id="{09B98241-824D-6515-59FF-19866B3B2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767" y="4271027"/>
            <a:ext cx="3719332" cy="138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머신러닝] 손실함수의 종류">
            <a:extLst>
              <a:ext uri="{FF2B5EF4-FFF2-40B4-BE49-F238E27FC236}">
                <a16:creationId xmlns:a16="http://schemas.microsoft.com/office/drawing/2014/main" id="{851FF57C-4B90-7101-E78D-A59071651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88" y="4441700"/>
            <a:ext cx="3252434" cy="104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989337-BB31-E6EF-782B-4FD607C9D11A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0 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28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돌이(가) 표시된 사진&#10;&#10;자동 생성된 설명">
            <a:extLst>
              <a:ext uri="{FF2B5EF4-FFF2-40B4-BE49-F238E27FC236}">
                <a16:creationId xmlns:a16="http://schemas.microsoft.com/office/drawing/2014/main" id="{A3EC4A07-9C7E-0B48-472D-ED162D35F5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4275" y="-1"/>
            <a:ext cx="6077725" cy="6858002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EB64DA2-CF28-1300-D1BE-BC4B0C612574}"/>
              </a:ext>
            </a:extLst>
          </p:cNvPr>
          <p:cNvCxnSpPr>
            <a:cxnSpLocks/>
          </p:cNvCxnSpPr>
          <p:nvPr/>
        </p:nvCxnSpPr>
        <p:spPr>
          <a:xfrm>
            <a:off x="737937" y="2570356"/>
            <a:ext cx="5358063" cy="0"/>
          </a:xfrm>
          <a:prstGeom prst="line">
            <a:avLst/>
          </a:prstGeom>
          <a:ln w="190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781F4A5-59A2-D820-926B-445ABCFE9532}"/>
              </a:ext>
            </a:extLst>
          </p:cNvPr>
          <p:cNvSpPr txBox="1"/>
          <p:nvPr/>
        </p:nvSpPr>
        <p:spPr>
          <a:xfrm>
            <a:off x="737937" y="2805317"/>
            <a:ext cx="997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Part 1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F4F531-38B8-8BAB-F0A9-99183AE094EA}"/>
              </a:ext>
            </a:extLst>
          </p:cNvPr>
          <p:cNvSpPr txBox="1"/>
          <p:nvPr/>
        </p:nvSpPr>
        <p:spPr>
          <a:xfrm>
            <a:off x="1735326" y="2805317"/>
            <a:ext cx="2420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데이터 </a:t>
            </a:r>
            <a:r>
              <a:rPr lang="ko-KR" altLang="en-US" sz="2800" b="1" dirty="0" err="1">
                <a:solidFill>
                  <a:schemeClr val="bg1"/>
                </a:solidFill>
                <a:latin typeface="+mn-ea"/>
              </a:rPr>
              <a:t>전처리</a:t>
            </a:r>
            <a:endParaRPr lang="ko-KR" alt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2473C-2443-64D6-1957-E73B3B85116A}"/>
              </a:ext>
            </a:extLst>
          </p:cNvPr>
          <p:cNvSpPr txBox="1"/>
          <p:nvPr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502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59E9A96E-6F1D-6E02-8BA1-D573FBDC5B6B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3A3838">
                    <a:lumMod val="75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Part 1  &gt;&gt;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A3838">
                  <a:lumMod val="75000"/>
                </a:srgb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750CA3-D68D-61BD-AC8F-A719D3D0D777}"/>
              </a:ext>
            </a:extLst>
          </p:cNvPr>
          <p:cNvSpPr txBox="1"/>
          <p:nvPr/>
        </p:nvSpPr>
        <p:spPr>
          <a:xfrm>
            <a:off x="1280688" y="191869"/>
            <a:ext cx="2351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A3838">
                    <a:lumMod val="75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데이터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A3838">
                    <a:lumMod val="75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전처리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A3838">
                    <a:lumMod val="75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 과정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BDDEAFE-F476-F58F-3D15-D7DCD9073CDC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8D25EB8-E463-C3F4-521D-713E1A12FAF5}"/>
              </a:ext>
            </a:extLst>
          </p:cNvPr>
          <p:cNvCxnSpPr>
            <a:stCxn id="40" idx="2"/>
          </p:cNvCxnSpPr>
          <p:nvPr/>
        </p:nvCxnSpPr>
        <p:spPr>
          <a:xfrm flipV="1">
            <a:off x="513347" y="3641558"/>
            <a:ext cx="11197389" cy="1203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39">
            <a:extLst>
              <a:ext uri="{FF2B5EF4-FFF2-40B4-BE49-F238E27FC236}">
                <a16:creationId xmlns:a16="http://schemas.microsoft.com/office/drawing/2014/main" id="{A144BB67-9707-520F-981D-178F14E9AB13}"/>
              </a:ext>
            </a:extLst>
          </p:cNvPr>
          <p:cNvSpPr/>
          <p:nvPr/>
        </p:nvSpPr>
        <p:spPr>
          <a:xfrm>
            <a:off x="513347" y="2636274"/>
            <a:ext cx="2034631" cy="203463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13E107D7-C272-D568-7EEE-3CF0AD3383A4}"/>
              </a:ext>
            </a:extLst>
          </p:cNvPr>
          <p:cNvSpPr/>
          <p:nvPr/>
        </p:nvSpPr>
        <p:spPr>
          <a:xfrm>
            <a:off x="2804036" y="2636274"/>
            <a:ext cx="2034631" cy="203463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B7ABF2EC-B09D-3545-DD12-0C0CF432F3F2}"/>
              </a:ext>
            </a:extLst>
          </p:cNvPr>
          <p:cNvSpPr/>
          <p:nvPr/>
        </p:nvSpPr>
        <p:spPr>
          <a:xfrm>
            <a:off x="5094726" y="2636274"/>
            <a:ext cx="2034631" cy="2034631"/>
          </a:xfrm>
          <a:prstGeom prst="ellipse">
            <a:avLst/>
          </a:prstGeom>
          <a:solidFill>
            <a:srgbClr val="8787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FD43865-6F0A-2A70-0925-D056B0E8E228}"/>
              </a:ext>
            </a:extLst>
          </p:cNvPr>
          <p:cNvSpPr/>
          <p:nvPr/>
        </p:nvSpPr>
        <p:spPr>
          <a:xfrm>
            <a:off x="7385415" y="2636274"/>
            <a:ext cx="2034631" cy="2034631"/>
          </a:xfrm>
          <a:prstGeom prst="ellipse">
            <a:avLst/>
          </a:prstGeom>
          <a:solidFill>
            <a:srgbClr val="525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E7E200B-41B2-45D1-0FF2-A29E36D0EDFE}"/>
              </a:ext>
            </a:extLst>
          </p:cNvPr>
          <p:cNvSpPr/>
          <p:nvPr/>
        </p:nvSpPr>
        <p:spPr>
          <a:xfrm>
            <a:off x="9676105" y="2636274"/>
            <a:ext cx="2034631" cy="203463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5" name="원호 44">
            <a:extLst>
              <a:ext uri="{FF2B5EF4-FFF2-40B4-BE49-F238E27FC236}">
                <a16:creationId xmlns:a16="http://schemas.microsoft.com/office/drawing/2014/main" id="{5B9AC46B-3E82-4CDE-D9E7-4D6790F3A20C}"/>
              </a:ext>
            </a:extLst>
          </p:cNvPr>
          <p:cNvSpPr/>
          <p:nvPr/>
        </p:nvSpPr>
        <p:spPr>
          <a:xfrm>
            <a:off x="1403685" y="1509107"/>
            <a:ext cx="2736538" cy="1919893"/>
          </a:xfrm>
          <a:prstGeom prst="arc">
            <a:avLst>
              <a:gd name="adj1" fmla="val 10723718"/>
              <a:gd name="adj2" fmla="val 0"/>
            </a:avLst>
          </a:prstGeom>
          <a:ln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6" name="원호 45">
            <a:extLst>
              <a:ext uri="{FF2B5EF4-FFF2-40B4-BE49-F238E27FC236}">
                <a16:creationId xmlns:a16="http://schemas.microsoft.com/office/drawing/2014/main" id="{E1E7D608-85DD-10DA-FB76-212AF53A12C5}"/>
              </a:ext>
            </a:extLst>
          </p:cNvPr>
          <p:cNvSpPr/>
          <p:nvPr/>
        </p:nvSpPr>
        <p:spPr>
          <a:xfrm flipV="1">
            <a:off x="3726456" y="3884650"/>
            <a:ext cx="2736538" cy="2034631"/>
          </a:xfrm>
          <a:prstGeom prst="arc">
            <a:avLst>
              <a:gd name="adj1" fmla="val 10723718"/>
              <a:gd name="adj2" fmla="val 0"/>
            </a:avLst>
          </a:prstGeom>
          <a:ln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7" name="원호 46">
            <a:extLst>
              <a:ext uri="{FF2B5EF4-FFF2-40B4-BE49-F238E27FC236}">
                <a16:creationId xmlns:a16="http://schemas.microsoft.com/office/drawing/2014/main" id="{6D5446D5-2CE7-488C-741A-C6479F9A5D26}"/>
              </a:ext>
            </a:extLst>
          </p:cNvPr>
          <p:cNvSpPr/>
          <p:nvPr/>
        </p:nvSpPr>
        <p:spPr>
          <a:xfrm>
            <a:off x="6096000" y="1490604"/>
            <a:ext cx="2582218" cy="1919893"/>
          </a:xfrm>
          <a:prstGeom prst="arc">
            <a:avLst>
              <a:gd name="adj1" fmla="val 10723718"/>
              <a:gd name="adj2" fmla="val 0"/>
            </a:avLst>
          </a:prstGeom>
          <a:ln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8" name="원호 47">
            <a:extLst>
              <a:ext uri="{FF2B5EF4-FFF2-40B4-BE49-F238E27FC236}">
                <a16:creationId xmlns:a16="http://schemas.microsoft.com/office/drawing/2014/main" id="{AFE95EF8-6F75-3958-9600-BF1EDBE10191}"/>
              </a:ext>
            </a:extLst>
          </p:cNvPr>
          <p:cNvSpPr/>
          <p:nvPr/>
        </p:nvSpPr>
        <p:spPr>
          <a:xfrm flipV="1">
            <a:off x="8307835" y="3884648"/>
            <a:ext cx="2440376" cy="1779507"/>
          </a:xfrm>
          <a:prstGeom prst="arc">
            <a:avLst>
              <a:gd name="adj1" fmla="val 10723718"/>
              <a:gd name="adj2" fmla="val 0"/>
            </a:avLst>
          </a:prstGeom>
          <a:ln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A1E1A0-932E-E755-2DFB-CDC351D9E1C1}"/>
              </a:ext>
            </a:extLst>
          </p:cNvPr>
          <p:cNvSpPr txBox="1"/>
          <p:nvPr/>
        </p:nvSpPr>
        <p:spPr>
          <a:xfrm flipH="1">
            <a:off x="628706" y="3336892"/>
            <a:ext cx="1630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왜도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3F7DD1-ABE9-DD60-7123-91C132D5A932}"/>
              </a:ext>
            </a:extLst>
          </p:cNvPr>
          <p:cNvSpPr txBox="1"/>
          <p:nvPr/>
        </p:nvSpPr>
        <p:spPr>
          <a:xfrm flipH="1">
            <a:off x="2943006" y="3336303"/>
            <a:ext cx="1630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이상치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8B80E4-F606-1BBD-0825-3A9419BE02B9}"/>
              </a:ext>
            </a:extLst>
          </p:cNvPr>
          <p:cNvSpPr txBox="1"/>
          <p:nvPr/>
        </p:nvSpPr>
        <p:spPr>
          <a:xfrm flipH="1">
            <a:off x="5257306" y="3335714"/>
            <a:ext cx="1630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결측값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E1737C-BEE2-A2BA-4095-7D408FDC744E}"/>
              </a:ext>
            </a:extLst>
          </p:cNvPr>
          <p:cNvSpPr txBox="1"/>
          <p:nvPr/>
        </p:nvSpPr>
        <p:spPr>
          <a:xfrm flipH="1">
            <a:off x="7603688" y="3099053"/>
            <a:ext cx="16301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범주형 데이터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B8EF55-C9E2-8FDA-A39E-E54A47634E27}"/>
              </a:ext>
            </a:extLst>
          </p:cNvPr>
          <p:cNvSpPr txBox="1"/>
          <p:nvPr/>
        </p:nvSpPr>
        <p:spPr>
          <a:xfrm flipH="1">
            <a:off x="9806604" y="3334536"/>
            <a:ext cx="1630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중복값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302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199E24-CDE2-E203-CEB8-C412C4C8992B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FAB0B-8269-0C87-C98A-8C0615D257DC}"/>
              </a:ext>
            </a:extLst>
          </p:cNvPr>
          <p:cNvSpPr txBox="1"/>
          <p:nvPr/>
        </p:nvSpPr>
        <p:spPr>
          <a:xfrm>
            <a:off x="1280688" y="191869"/>
            <a:ext cx="1069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시작 전 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DB23BD6-9DCA-34E0-FE54-2A54E70D5839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8098BDB-2873-54EB-490A-446DDB141F46}"/>
              </a:ext>
            </a:extLst>
          </p:cNvPr>
          <p:cNvSpPr txBox="1"/>
          <p:nvPr/>
        </p:nvSpPr>
        <p:spPr>
          <a:xfrm>
            <a:off x="4312476" y="3975529"/>
            <a:ext cx="3023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accent4"/>
                </a:solidFill>
              </a:rPr>
              <a:t>라이브러리 불러오기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A6967D-4295-5822-BAA2-14B3CF86A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42" y="852015"/>
            <a:ext cx="5520166" cy="27544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1296180-1420-AE3D-D0D6-8BDFDBF9D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074" y="857679"/>
            <a:ext cx="6165000" cy="27487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B3B21C-4EEA-4F16-985D-3529F532F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280" y="4833054"/>
            <a:ext cx="4437798" cy="1121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08FAE2-17E9-0CD7-E488-E5A2F089A059}"/>
              </a:ext>
            </a:extLst>
          </p:cNvPr>
          <p:cNvSpPr txBox="1"/>
          <p:nvPr/>
        </p:nvSpPr>
        <p:spPr>
          <a:xfrm>
            <a:off x="4391722" y="6133171"/>
            <a:ext cx="2715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accent4"/>
                </a:solidFill>
              </a:rPr>
              <a:t>데이터셋 불러오기</a:t>
            </a:r>
          </a:p>
        </p:txBody>
      </p:sp>
    </p:spTree>
    <p:extLst>
      <p:ext uri="{BB962C8B-B14F-4D97-AF65-F5344CB8AC3E}">
        <p14:creationId xmlns:p14="http://schemas.microsoft.com/office/powerpoint/2010/main" val="4026873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8E0F62-5A89-BA2B-529F-1CE7EE306696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28C82-0A43-1666-C642-9B5831BB33A1}"/>
              </a:ext>
            </a:extLst>
          </p:cNvPr>
          <p:cNvSpPr txBox="1"/>
          <p:nvPr/>
        </p:nvSpPr>
        <p:spPr>
          <a:xfrm>
            <a:off x="1280688" y="191869"/>
            <a:ext cx="1069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시작 전 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749F2A2-D38F-4127-2D11-C7EFABFD37A4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EBE595-6489-8EE3-ADA9-3C735108B801}"/>
              </a:ext>
            </a:extLst>
          </p:cNvPr>
          <p:cNvSpPr/>
          <p:nvPr/>
        </p:nvSpPr>
        <p:spPr>
          <a:xfrm>
            <a:off x="349057" y="813115"/>
            <a:ext cx="6770200" cy="574518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8724B4F-EBC2-5211-BB52-657A560F2AC8}"/>
              </a:ext>
            </a:extLst>
          </p:cNvPr>
          <p:cNvGrpSpPr/>
          <p:nvPr/>
        </p:nvGrpSpPr>
        <p:grpSpPr>
          <a:xfrm>
            <a:off x="7651578" y="2415811"/>
            <a:ext cx="4264090" cy="2026377"/>
            <a:chOff x="7670628" y="2098443"/>
            <a:chExt cx="4264090" cy="202637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6619C21C-F375-1F76-9F29-A37974E87B72}"/>
                </a:ext>
              </a:extLst>
            </p:cNvPr>
            <p:cNvSpPr/>
            <p:nvPr/>
          </p:nvSpPr>
          <p:spPr>
            <a:xfrm>
              <a:off x="7670628" y="2098443"/>
              <a:ext cx="4264090" cy="202637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8937B3-3EF7-BD00-04B2-8F7FA7E860DD}"/>
                </a:ext>
              </a:extLst>
            </p:cNvPr>
            <p:cNvSpPr txBox="1"/>
            <p:nvPr/>
          </p:nvSpPr>
          <p:spPr>
            <a:xfrm>
              <a:off x="7763491" y="2317878"/>
              <a:ext cx="407945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b="1" spc="-150" dirty="0"/>
                <a:t>수치형 데이터들의 </a:t>
              </a:r>
              <a:endParaRPr lang="en-US" altLang="ko-KR" sz="2800" b="1" spc="-150" dirty="0"/>
            </a:p>
            <a:p>
              <a:pPr algn="ctr"/>
              <a:r>
                <a:rPr lang="ko-KR" altLang="en-US" sz="2800" b="1" spc="-150" dirty="0"/>
                <a:t>상관관계 시각화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199803-F17B-1E5E-FF66-6A69367A847F}"/>
                </a:ext>
              </a:extLst>
            </p:cNvPr>
            <p:cNvSpPr txBox="1"/>
            <p:nvPr/>
          </p:nvSpPr>
          <p:spPr>
            <a:xfrm>
              <a:off x="7906646" y="3375237"/>
              <a:ext cx="3792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집 값에 품질평가와 면적이 가장 큰 영향을 주는 것을 확인 할 수 있음</a:t>
              </a: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D69E7E35-E97A-5EBB-A351-7F4E2CC8B4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40"/>
          <a:stretch/>
        </p:blipFill>
        <p:spPr>
          <a:xfrm>
            <a:off x="527329" y="2772786"/>
            <a:ext cx="5957167" cy="1851234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38B310A-AD28-1812-DF53-286AE03B3568}"/>
              </a:ext>
            </a:extLst>
          </p:cNvPr>
          <p:cNvGrpSpPr/>
          <p:nvPr/>
        </p:nvGrpSpPr>
        <p:grpSpPr>
          <a:xfrm>
            <a:off x="455839" y="945268"/>
            <a:ext cx="6555826" cy="5480882"/>
            <a:chOff x="456244" y="945268"/>
            <a:chExt cx="6555826" cy="548088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F03E3BB-7B4C-9CA9-74AD-79A9C1D27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244" y="945268"/>
              <a:ext cx="6555826" cy="5480882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8D48A5F-5DE5-1F87-3B34-47FA63788825}"/>
                </a:ext>
              </a:extLst>
            </p:cNvPr>
            <p:cNvSpPr/>
            <p:nvPr/>
          </p:nvSpPr>
          <p:spPr>
            <a:xfrm>
              <a:off x="749808" y="5660136"/>
              <a:ext cx="5346192" cy="685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238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C6B93B-AAAD-39A9-9E1F-5807E752D1FC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C6E1C-04C1-077B-6B80-21921A9DF1ED}"/>
              </a:ext>
            </a:extLst>
          </p:cNvPr>
          <p:cNvSpPr txBox="1"/>
          <p:nvPr/>
        </p:nvSpPr>
        <p:spPr>
          <a:xfrm>
            <a:off x="1280688" y="19186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왜도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F719284-B17F-FD60-05ED-730599B019CD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F4E6E7-9125-A708-95CF-672A1F09AC13}"/>
              </a:ext>
            </a:extLst>
          </p:cNvPr>
          <p:cNvSpPr/>
          <p:nvPr/>
        </p:nvSpPr>
        <p:spPr>
          <a:xfrm>
            <a:off x="845882" y="1100781"/>
            <a:ext cx="10736518" cy="49571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69526-74BD-70DB-7B20-97B2805A1614}"/>
              </a:ext>
            </a:extLst>
          </p:cNvPr>
          <p:cNvSpPr txBox="1"/>
          <p:nvPr/>
        </p:nvSpPr>
        <p:spPr>
          <a:xfrm>
            <a:off x="6559761" y="1100781"/>
            <a:ext cx="4607096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/>
              <a:t>왜도</a:t>
            </a:r>
            <a:r>
              <a:rPr lang="ko-KR" altLang="en-US" dirty="0"/>
              <a:t>  </a:t>
            </a:r>
            <a:r>
              <a:rPr lang="en-US" altLang="ko-KR" dirty="0"/>
              <a:t> </a:t>
            </a:r>
          </a:p>
          <a:p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데이터 분포의 비대칭 정도</a:t>
            </a:r>
            <a:endParaRPr lang="en-US" altLang="ko-KR" dirty="0"/>
          </a:p>
          <a:p>
            <a:endParaRPr lang="en-US" altLang="ko-KR" sz="1050" b="1" dirty="0"/>
          </a:p>
          <a:p>
            <a:r>
              <a:rPr lang="ko-KR" altLang="en-US" sz="2400" b="1" dirty="0"/>
              <a:t>첨도 </a:t>
            </a:r>
            <a:r>
              <a:rPr lang="en-US" altLang="ko-KR" dirty="0"/>
              <a:t>  </a:t>
            </a:r>
          </a:p>
          <a:p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데이터 분포의 뾰족한 정도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73CD6F-32E4-D03E-82A3-8BC241ED6EE1}"/>
              </a:ext>
            </a:extLst>
          </p:cNvPr>
          <p:cNvSpPr txBox="1"/>
          <p:nvPr/>
        </p:nvSpPr>
        <p:spPr>
          <a:xfrm>
            <a:off x="6559761" y="2850451"/>
            <a:ext cx="40828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/>
              <a:t>왜도를</a:t>
            </a:r>
            <a:r>
              <a:rPr lang="ko-KR" altLang="en-US" sz="2400" b="1" dirty="0"/>
              <a:t> 줄여야 하는 이유</a:t>
            </a:r>
            <a:endParaRPr lang="en-US" altLang="ko-KR" sz="2400" b="1" dirty="0"/>
          </a:p>
          <a:p>
            <a:r>
              <a:rPr lang="ko-KR" altLang="en-US" dirty="0" err="1"/>
              <a:t>머신러닝은</a:t>
            </a:r>
            <a:r>
              <a:rPr lang="ko-KR" altLang="en-US" dirty="0"/>
              <a:t> 정규분포 모양의 데이터를 </a:t>
            </a:r>
            <a:r>
              <a:rPr lang="ko-KR" altLang="en-US" dirty="0" err="1"/>
              <a:t>학습하는데에</a:t>
            </a:r>
            <a:r>
              <a:rPr lang="ko-KR" altLang="en-US" dirty="0"/>
              <a:t> </a:t>
            </a:r>
            <a:r>
              <a:rPr lang="ko-KR" altLang="en-US" dirty="0" err="1"/>
              <a:t>특화되어있음</a:t>
            </a:r>
            <a:r>
              <a:rPr lang="en-US" altLang="ko-KR" dirty="0"/>
              <a:t>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061DA-992A-659C-6BC1-62541A5D4512}"/>
              </a:ext>
            </a:extLst>
          </p:cNvPr>
          <p:cNvSpPr txBox="1"/>
          <p:nvPr/>
        </p:nvSpPr>
        <p:spPr>
          <a:xfrm>
            <a:off x="1153688" y="5248275"/>
            <a:ext cx="514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△ 집 값 분포 그래프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213459-4CF6-B678-0D3E-27A6BEFC0D73}"/>
              </a:ext>
            </a:extLst>
          </p:cNvPr>
          <p:cNvSpPr txBox="1"/>
          <p:nvPr/>
        </p:nvSpPr>
        <p:spPr>
          <a:xfrm>
            <a:off x="6565978" y="4331088"/>
            <a:ext cx="385228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/>
              <a:t>왜도</a:t>
            </a:r>
            <a:r>
              <a:rPr lang="ko-KR" altLang="en-US" sz="2400" b="1" dirty="0"/>
              <a:t> 해결 방법</a:t>
            </a:r>
            <a:r>
              <a:rPr lang="en-US" altLang="ko-KR" sz="2400" b="1" dirty="0"/>
              <a:t> </a:t>
            </a:r>
            <a:endParaRPr lang="en-US" altLang="ko-KR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/>
              <a:t>로그 변환</a:t>
            </a:r>
            <a:endParaRPr lang="en-US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/>
              <a:t>제곱 </a:t>
            </a:r>
            <a:r>
              <a:rPr lang="ko-KR" altLang="en-US" sz="2400" dirty="0" err="1"/>
              <a:t>근변환</a:t>
            </a:r>
            <a:endParaRPr lang="en-US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/>
              <a:t>박스</a:t>
            </a:r>
            <a:r>
              <a:rPr lang="en-US" altLang="ko-KR" sz="2400" dirty="0"/>
              <a:t>-</a:t>
            </a:r>
            <a:r>
              <a:rPr lang="ko-KR" altLang="en-US" sz="2400" dirty="0" err="1"/>
              <a:t>콕스</a:t>
            </a:r>
            <a:r>
              <a:rPr lang="ko-KR" altLang="en-US" sz="2400" dirty="0"/>
              <a:t> 변환 등</a:t>
            </a:r>
            <a:r>
              <a:rPr lang="en-US" altLang="ko-KR" sz="2400" dirty="0"/>
              <a:t> </a:t>
            </a:r>
          </a:p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6420C1B-A0F6-EDD9-0996-272C03D0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461" y="1877235"/>
            <a:ext cx="4305673" cy="24538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4B60FD9-2D44-127B-E63D-7D4EE8008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926" y="1372066"/>
            <a:ext cx="5293290" cy="3688234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2BDE42C0-CF61-61DF-F89A-C88B8527A1E9}"/>
              </a:ext>
            </a:extLst>
          </p:cNvPr>
          <p:cNvGrpSpPr/>
          <p:nvPr/>
        </p:nvGrpSpPr>
        <p:grpSpPr>
          <a:xfrm>
            <a:off x="6420814" y="4739951"/>
            <a:ext cx="3955123" cy="1298315"/>
            <a:chOff x="6420814" y="4739951"/>
            <a:chExt cx="3955123" cy="1298315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3B46682E-AF8A-BCF7-1454-1DD7BC31A763}"/>
                </a:ext>
              </a:extLst>
            </p:cNvPr>
            <p:cNvSpPr/>
            <p:nvPr/>
          </p:nvSpPr>
          <p:spPr>
            <a:xfrm>
              <a:off x="6858000" y="4739951"/>
              <a:ext cx="1492898" cy="32968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4D20B0-6A53-9125-B8CB-58AD576E5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20814" y="5139028"/>
              <a:ext cx="3955123" cy="899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302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B662CD-0ACA-A868-BBE8-3E461C25CDAA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F632C-EF54-9189-6601-092690D63120}"/>
              </a:ext>
            </a:extLst>
          </p:cNvPr>
          <p:cNvSpPr txBox="1"/>
          <p:nvPr/>
        </p:nvSpPr>
        <p:spPr>
          <a:xfrm>
            <a:off x="1280688" y="19186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왜도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4B14E76-2976-9BB0-0928-FD7E31A34B9F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AE71E44-DB46-6328-07F6-AFA34BDE42B2}"/>
              </a:ext>
            </a:extLst>
          </p:cNvPr>
          <p:cNvCxnSpPr>
            <a:cxnSpLocks/>
          </p:cNvCxnSpPr>
          <p:nvPr/>
        </p:nvCxnSpPr>
        <p:spPr>
          <a:xfrm>
            <a:off x="5486401" y="3902803"/>
            <a:ext cx="1226634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FA7C5E2-44EF-ACFE-5B15-FB496850E3C0}"/>
              </a:ext>
            </a:extLst>
          </p:cNvPr>
          <p:cNvSpPr txBox="1"/>
          <p:nvPr/>
        </p:nvSpPr>
        <p:spPr>
          <a:xfrm>
            <a:off x="2174987" y="3441138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</a:rPr>
              <a:t>내용을 입력하세요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8FB79-CF58-63BA-43B3-3AE928E41880}"/>
              </a:ext>
            </a:extLst>
          </p:cNvPr>
          <p:cNvSpPr txBox="1"/>
          <p:nvPr/>
        </p:nvSpPr>
        <p:spPr>
          <a:xfrm>
            <a:off x="7702275" y="3449659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</a:rPr>
              <a:t>내용을 입력하세요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C6EF8B-B15D-D5DE-BE66-CC2990B6F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904" y="1561504"/>
            <a:ext cx="4646016" cy="405049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4DFB8BE-85B6-5CF8-780A-76A2F8817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61" y="1742636"/>
            <a:ext cx="5293290" cy="36882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4C1E1C-7C24-8D75-79C5-14C5E3650E2F}"/>
              </a:ext>
            </a:extLst>
          </p:cNvPr>
          <p:cNvSpPr txBox="1"/>
          <p:nvPr/>
        </p:nvSpPr>
        <p:spPr>
          <a:xfrm>
            <a:off x="5538611" y="2993500"/>
            <a:ext cx="2348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로그 변환</a:t>
            </a:r>
          </a:p>
        </p:txBody>
      </p:sp>
    </p:spTree>
    <p:extLst>
      <p:ext uri="{BB962C8B-B14F-4D97-AF65-F5344CB8AC3E}">
        <p14:creationId xmlns:p14="http://schemas.microsoft.com/office/powerpoint/2010/main" val="2250532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15D58-D295-0C28-EE1F-E2399775310B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AB78A-0751-79B6-CCE1-66383B95789D}"/>
              </a:ext>
            </a:extLst>
          </p:cNvPr>
          <p:cNvSpPr txBox="1"/>
          <p:nvPr/>
        </p:nvSpPr>
        <p:spPr>
          <a:xfrm>
            <a:off x="1280688" y="191869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이상치 제거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F39905-7834-BE78-2D0F-FB9223BF4054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EECE7E-1AA6-BFDB-2519-6CCF5EB3D007}"/>
              </a:ext>
            </a:extLst>
          </p:cNvPr>
          <p:cNvSpPr txBox="1"/>
          <p:nvPr/>
        </p:nvSpPr>
        <p:spPr>
          <a:xfrm>
            <a:off x="4207505" y="4096357"/>
            <a:ext cx="377699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accent4"/>
                </a:solidFill>
              </a:rPr>
              <a:t>이상치 제거</a:t>
            </a:r>
            <a:endParaRPr lang="en-US" altLang="ko-KR" sz="3200" b="1" dirty="0">
              <a:solidFill>
                <a:schemeClr val="accent4"/>
              </a:solidFill>
            </a:endParaRPr>
          </a:p>
          <a:p>
            <a:pPr algn="ctr"/>
            <a:endParaRPr lang="en-US" altLang="ko-KR" sz="2400" dirty="0">
              <a:solidFill>
                <a:schemeClr val="accent4"/>
              </a:solidFill>
            </a:endParaRPr>
          </a:p>
          <a:p>
            <a:pPr algn="ctr"/>
            <a:r>
              <a:rPr lang="en-US" altLang="ko-KR" sz="2400" dirty="0">
                <a:solidFill>
                  <a:schemeClr val="accent4"/>
                </a:solidFill>
              </a:rPr>
              <a:t>drop() </a:t>
            </a:r>
            <a:r>
              <a:rPr lang="ko-KR" altLang="en-US" sz="2400" dirty="0">
                <a:solidFill>
                  <a:schemeClr val="accent4"/>
                </a:solidFill>
              </a:rPr>
              <a:t>함수 사용</a:t>
            </a:r>
            <a:endParaRPr lang="en-US" altLang="ko-KR" sz="24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accent4"/>
                </a:solidFill>
              </a:rPr>
              <a:t>범위를 정하여 이상치 제거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65669B-09E8-4BF3-D369-31C93ED28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76" y="1956824"/>
            <a:ext cx="9450448" cy="160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02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F0FDF7-74E2-BD3F-AF50-F1BEF87EF445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A0847-53E0-C6C7-22B2-7556F1BFF022}"/>
              </a:ext>
            </a:extLst>
          </p:cNvPr>
          <p:cNvSpPr txBox="1"/>
          <p:nvPr/>
        </p:nvSpPr>
        <p:spPr>
          <a:xfrm>
            <a:off x="1280688" y="191869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결측값</a:t>
            </a: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 처리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E96ECAB-8550-A147-DF07-F0B46BCC6ACD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C2DAF7-627E-3537-8CA3-A7434E2A0076}"/>
              </a:ext>
            </a:extLst>
          </p:cNvPr>
          <p:cNvSpPr/>
          <p:nvPr/>
        </p:nvSpPr>
        <p:spPr>
          <a:xfrm>
            <a:off x="893507" y="1123952"/>
            <a:ext cx="4935793" cy="4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B6ACF7-0D71-0DEF-99D3-FA0D3130AE4B}"/>
              </a:ext>
            </a:extLst>
          </p:cNvPr>
          <p:cNvSpPr/>
          <p:nvPr/>
        </p:nvSpPr>
        <p:spPr>
          <a:xfrm>
            <a:off x="6589457" y="1123952"/>
            <a:ext cx="4935793" cy="4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00B059-253A-8F28-7840-7C906491D344}"/>
              </a:ext>
            </a:extLst>
          </p:cNvPr>
          <p:cNvSpPr txBox="1"/>
          <p:nvPr/>
        </p:nvSpPr>
        <p:spPr>
          <a:xfrm>
            <a:off x="2425125" y="1321175"/>
            <a:ext cx="1872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/>
              <a:t>결측값</a:t>
            </a:r>
            <a:r>
              <a:rPr lang="ko-KR" altLang="en-US" sz="2400" b="1" dirty="0"/>
              <a:t> 파악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98CE3-DB57-8EBE-4648-8687B796F87A}"/>
              </a:ext>
            </a:extLst>
          </p:cNvPr>
          <p:cNvSpPr txBox="1"/>
          <p:nvPr/>
        </p:nvSpPr>
        <p:spPr>
          <a:xfrm>
            <a:off x="7909560" y="1321175"/>
            <a:ext cx="2309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/>
              <a:t>결측값</a:t>
            </a:r>
            <a:r>
              <a:rPr lang="ko-KR" altLang="en-US" sz="2400" b="1" dirty="0"/>
              <a:t> 시각화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F24E428-9C83-D09A-AC4B-76A651FC59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80" b="4428"/>
          <a:stretch/>
        </p:blipFill>
        <p:spPr>
          <a:xfrm>
            <a:off x="1689940" y="3902701"/>
            <a:ext cx="3012959" cy="20328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BF9BF6-4C03-0260-00F2-04003F9D1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614" y="1952255"/>
            <a:ext cx="4111630" cy="17508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E962816-40A8-42E5-3AEF-BA5A3E795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1759982"/>
            <a:ext cx="3398921" cy="266857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626249B-BE2D-F342-31DB-C22574490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900" y="1759982"/>
            <a:ext cx="4321342" cy="410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3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F1F12D-2469-6897-92BE-7BCAF9A6A88D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9D3FE-E151-B95E-7EE3-F252DF9226B2}"/>
              </a:ext>
            </a:extLst>
          </p:cNvPr>
          <p:cNvSpPr txBox="1"/>
          <p:nvPr/>
        </p:nvSpPr>
        <p:spPr>
          <a:xfrm>
            <a:off x="1280688" y="191869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결측값</a:t>
            </a: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 처리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1150271-5C8E-EC40-9E13-A62BE27B8CCD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08A0829-F299-1B60-9877-CAE1A1B8332E}"/>
              </a:ext>
            </a:extLst>
          </p:cNvPr>
          <p:cNvSpPr txBox="1"/>
          <p:nvPr/>
        </p:nvSpPr>
        <p:spPr>
          <a:xfrm>
            <a:off x="0" y="954509"/>
            <a:ext cx="1192106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 err="1"/>
              <a:t>결측값</a:t>
            </a:r>
            <a:r>
              <a:rPr lang="ko-KR" altLang="en-US" sz="4400" b="1" dirty="0"/>
              <a:t> 처리 방법</a:t>
            </a:r>
            <a:r>
              <a:rPr lang="ko-KR" altLang="en-US" sz="4400" dirty="0"/>
              <a:t> </a:t>
            </a:r>
            <a:endParaRPr lang="en-US" altLang="ko-KR" sz="4400" dirty="0"/>
          </a:p>
          <a:p>
            <a:pPr algn="ctr"/>
            <a:r>
              <a:rPr lang="ko-KR" altLang="en-US" sz="4400" dirty="0" err="1"/>
              <a:t>피쳐</a:t>
            </a:r>
            <a:r>
              <a:rPr lang="ko-KR" altLang="en-US" sz="4400" dirty="0"/>
              <a:t> 특성에 알맞게 각각 적용</a:t>
            </a:r>
            <a:endParaRPr lang="en-US" altLang="ko-KR" sz="4400" dirty="0"/>
          </a:p>
          <a:p>
            <a:pPr lvl="3"/>
            <a:endParaRPr lang="en-US" altLang="ko-KR" sz="4400" dirty="0"/>
          </a:p>
          <a:p>
            <a:pPr lvl="3"/>
            <a:r>
              <a:rPr lang="ko-KR" altLang="ko-KR" sz="3600" b="0" i="0" kern="1200" dirty="0" err="1">
                <a:solidFill>
                  <a:srgbClr val="333333"/>
                </a:solidFill>
                <a:effectLst/>
                <a:latin typeface="AppleSDGothicNeo"/>
                <a:ea typeface="Pretendard"/>
                <a:cs typeface="+mn-cs"/>
              </a:rPr>
              <a:t>결측값</a:t>
            </a:r>
            <a:r>
              <a:rPr lang="ko-KR" altLang="ko-KR" sz="3600" b="0" i="0" kern="1200" dirty="0">
                <a:solidFill>
                  <a:srgbClr val="333333"/>
                </a:solidFill>
                <a:effectLst/>
                <a:latin typeface="AppleSDGothicNeo"/>
                <a:ea typeface="AppleSDGothicNeo"/>
                <a:cs typeface="+mn-cs"/>
              </a:rPr>
              <a:t> 삭제</a:t>
            </a:r>
            <a:r>
              <a:rPr lang="en-US" altLang="ko-KR" sz="3600" b="0" i="0" kern="1200" dirty="0">
                <a:solidFill>
                  <a:srgbClr val="333333"/>
                </a:solidFill>
                <a:effectLst/>
                <a:latin typeface="AppleSDGothicNeo"/>
                <a:ea typeface="AppleSDGothicNeo"/>
                <a:cs typeface="+mn-cs"/>
              </a:rPr>
              <a:t>                          </a:t>
            </a:r>
            <a:r>
              <a:rPr lang="ko-KR" altLang="en-US" sz="3600" dirty="0"/>
              <a:t>평균값으로 대체</a:t>
            </a:r>
            <a:endParaRPr lang="en-US" altLang="ko-KR" sz="3600" dirty="0"/>
          </a:p>
          <a:p>
            <a:pPr lvl="3"/>
            <a:endParaRPr lang="en-US" altLang="ko-KR" sz="3600" dirty="0"/>
          </a:p>
          <a:p>
            <a:pPr lvl="3"/>
            <a:r>
              <a:rPr lang="ko-KR" altLang="en-US" sz="3600" dirty="0"/>
              <a:t>중앙값으로 대체 </a:t>
            </a:r>
            <a:r>
              <a:rPr lang="en-US" altLang="ko-KR" sz="3600" dirty="0"/>
              <a:t>               </a:t>
            </a:r>
            <a:r>
              <a:rPr lang="ko-KR" altLang="en-US" sz="3600" dirty="0"/>
              <a:t> </a:t>
            </a:r>
            <a:r>
              <a:rPr lang="ko-KR" altLang="en-US" sz="3600" dirty="0" err="1"/>
              <a:t>최빈값으로</a:t>
            </a:r>
            <a:r>
              <a:rPr lang="ko-KR" altLang="en-US" sz="3600" dirty="0"/>
              <a:t> 대체     </a:t>
            </a:r>
            <a:endParaRPr lang="en-US" altLang="ko-KR" sz="3600" dirty="0"/>
          </a:p>
          <a:p>
            <a:pPr lvl="3"/>
            <a:endParaRPr lang="en-US" altLang="ko-KR" sz="3600" dirty="0"/>
          </a:p>
          <a:p>
            <a:pPr lvl="3"/>
            <a:r>
              <a:rPr lang="en-US" altLang="ko-KR" sz="3600" dirty="0"/>
              <a:t>	        		‘0’ or</a:t>
            </a:r>
            <a:r>
              <a:rPr lang="ko-KR" altLang="en-US" sz="3600" dirty="0"/>
              <a:t> </a:t>
            </a:r>
            <a:r>
              <a:rPr lang="en-US" altLang="ko-KR" sz="3600" dirty="0"/>
              <a:t>‘None’</a:t>
            </a:r>
            <a:r>
              <a:rPr lang="ko-KR" altLang="en-US" sz="3600" dirty="0"/>
              <a:t>으로 대체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E3A4EB6-CB0C-AACF-E1B4-B0F25E24D227}"/>
              </a:ext>
            </a:extLst>
          </p:cNvPr>
          <p:cNvSpPr/>
          <p:nvPr/>
        </p:nvSpPr>
        <p:spPr>
          <a:xfrm>
            <a:off x="6354480" y="3962400"/>
            <a:ext cx="3750733" cy="89746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E4330C9-27F4-B0FF-5BBB-91C81447D3B3}"/>
              </a:ext>
            </a:extLst>
          </p:cNvPr>
          <p:cNvSpPr/>
          <p:nvPr/>
        </p:nvSpPr>
        <p:spPr>
          <a:xfrm>
            <a:off x="1240614" y="3962400"/>
            <a:ext cx="3750733" cy="89746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2D7FFF9-B13F-8337-00D2-28C10710B3E0}"/>
              </a:ext>
            </a:extLst>
          </p:cNvPr>
          <p:cNvSpPr/>
          <p:nvPr/>
        </p:nvSpPr>
        <p:spPr>
          <a:xfrm>
            <a:off x="3547534" y="5121382"/>
            <a:ext cx="4563533" cy="81394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59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67D60B-6AA5-E73C-DD53-422E7FBA3FBE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E6941-7664-640F-78E7-6F718849678C}"/>
              </a:ext>
            </a:extLst>
          </p:cNvPr>
          <p:cNvSpPr txBox="1"/>
          <p:nvPr/>
        </p:nvSpPr>
        <p:spPr>
          <a:xfrm>
            <a:off x="1280688" y="191869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결측값</a:t>
            </a: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 처리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7B4D030-7FFD-CA81-F7FB-C4F7037C2AA2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C0965A1-0A8A-C700-982C-2BF58C016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88" y="1742839"/>
            <a:ext cx="8402223" cy="3372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4BF97C-0BF2-C1DC-F8D5-8C76DF0A1F40}"/>
              </a:ext>
            </a:extLst>
          </p:cNvPr>
          <p:cNvSpPr txBox="1"/>
          <p:nvPr/>
        </p:nvSpPr>
        <p:spPr>
          <a:xfrm>
            <a:off x="-4233" y="1143827"/>
            <a:ext cx="6100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2400" b="1" dirty="0" err="1"/>
              <a:t>최빈값으로</a:t>
            </a:r>
            <a:r>
              <a:rPr lang="ko-KR" altLang="en-US" sz="2400" b="1" dirty="0"/>
              <a:t> 대체</a:t>
            </a:r>
            <a:endParaRPr lang="en-US" altLang="ko-KR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BBB13-906E-2CEA-30BE-75DCE4CAAD5F}"/>
              </a:ext>
            </a:extLst>
          </p:cNvPr>
          <p:cNvSpPr txBox="1"/>
          <p:nvPr/>
        </p:nvSpPr>
        <p:spPr>
          <a:xfrm>
            <a:off x="-4233" y="5115160"/>
            <a:ext cx="6100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2400" b="1" dirty="0"/>
              <a:t>중앙값으로 대체</a:t>
            </a:r>
            <a:endParaRPr lang="en-US" altLang="ko-KR" sz="24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7EBB13D-2C44-EA90-6B96-753C14315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993" y="5702572"/>
            <a:ext cx="8049748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19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22B61-C89D-EE18-9952-6A07173D968E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3BE5E-1058-8EB1-9051-64EDB07DE3A5}"/>
              </a:ext>
            </a:extLst>
          </p:cNvPr>
          <p:cNvSpPr txBox="1"/>
          <p:nvPr/>
        </p:nvSpPr>
        <p:spPr>
          <a:xfrm>
            <a:off x="1280688" y="191869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결측값</a:t>
            </a: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 처리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56FF4B2-3E70-7ABD-523C-FFAA5FB3119D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D88F7D8-89F5-B986-B066-5E49973935E2}"/>
              </a:ext>
            </a:extLst>
          </p:cNvPr>
          <p:cNvSpPr txBox="1"/>
          <p:nvPr/>
        </p:nvSpPr>
        <p:spPr>
          <a:xfrm>
            <a:off x="0" y="1177299"/>
            <a:ext cx="6100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ko-KR" sz="2400" b="1" dirty="0"/>
              <a:t>‘0’ 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‘None’</a:t>
            </a:r>
            <a:r>
              <a:rPr lang="ko-KR" altLang="en-US" sz="2400" b="1" dirty="0"/>
              <a:t>으로 대체</a:t>
            </a:r>
            <a:endParaRPr lang="en-US" altLang="ko-KR" sz="24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20ED0D-E54F-CF3D-C800-D8107C6F38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71"/>
          <a:stretch/>
        </p:blipFill>
        <p:spPr>
          <a:xfrm>
            <a:off x="437731" y="2034985"/>
            <a:ext cx="5658269" cy="30691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A5C5D4-8E65-DC85-C40E-AE5350C65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034984"/>
            <a:ext cx="5800344" cy="306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67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55F28-6462-3BE6-30B3-C758F73D8422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0BF5A-7D93-79DA-E40C-E76564BF8C82}"/>
              </a:ext>
            </a:extLst>
          </p:cNvPr>
          <p:cNvSpPr txBox="1"/>
          <p:nvPr/>
        </p:nvSpPr>
        <p:spPr>
          <a:xfrm>
            <a:off x="1280688" y="191869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결측값</a:t>
            </a: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 처리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B9EB43-995B-01D5-9826-143701A1D9BD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67FF5EE6-4374-CFF7-051C-94A8B189E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904" y="2047104"/>
            <a:ext cx="3195542" cy="32858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C7E5B3-7F5B-DD8B-C8AD-09E0B2334B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2" t="5280" b="4428"/>
          <a:stretch/>
        </p:blipFill>
        <p:spPr>
          <a:xfrm>
            <a:off x="1435607" y="2047104"/>
            <a:ext cx="4777823" cy="3285815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CEC0F92-F3BB-933A-B457-D18ACA75FCE8}"/>
              </a:ext>
            </a:extLst>
          </p:cNvPr>
          <p:cNvCxnSpPr>
            <a:cxnSpLocks/>
          </p:cNvCxnSpPr>
          <p:nvPr/>
        </p:nvCxnSpPr>
        <p:spPr>
          <a:xfrm>
            <a:off x="5486401" y="3902803"/>
            <a:ext cx="1226634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EE6E9BF-D2FD-F2C6-CE0F-A7B5BB5BC832}"/>
              </a:ext>
            </a:extLst>
          </p:cNvPr>
          <p:cNvSpPr txBox="1"/>
          <p:nvPr/>
        </p:nvSpPr>
        <p:spPr>
          <a:xfrm>
            <a:off x="1929384" y="1124357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결측값</a:t>
            </a:r>
            <a:r>
              <a:rPr lang="ko-KR" altLang="en-US" sz="2800" dirty="0"/>
              <a:t> 처리 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44534-78CA-0280-F62D-8DBC64F77186}"/>
              </a:ext>
            </a:extLst>
          </p:cNvPr>
          <p:cNvSpPr txBox="1"/>
          <p:nvPr/>
        </p:nvSpPr>
        <p:spPr>
          <a:xfrm>
            <a:off x="7938330" y="1124357"/>
            <a:ext cx="2668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결측값</a:t>
            </a:r>
            <a:r>
              <a:rPr lang="ko-KR" altLang="en-US" sz="2800" dirty="0"/>
              <a:t> 처리 후</a:t>
            </a:r>
          </a:p>
        </p:txBody>
      </p:sp>
    </p:spTree>
    <p:extLst>
      <p:ext uri="{BB962C8B-B14F-4D97-AF65-F5344CB8AC3E}">
        <p14:creationId xmlns:p14="http://schemas.microsoft.com/office/powerpoint/2010/main" val="3828703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D2F7245-0CFA-90B7-E286-95203E12B13C}"/>
              </a:ext>
            </a:extLst>
          </p:cNvPr>
          <p:cNvSpPr/>
          <p:nvPr/>
        </p:nvSpPr>
        <p:spPr>
          <a:xfrm>
            <a:off x="495299" y="1803400"/>
            <a:ext cx="5465375" cy="389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8967F9-B0B6-A782-DF46-EAEA4746AACB}"/>
              </a:ext>
            </a:extLst>
          </p:cNvPr>
          <p:cNvSpPr/>
          <p:nvPr/>
        </p:nvSpPr>
        <p:spPr>
          <a:xfrm>
            <a:off x="771574" y="2117027"/>
            <a:ext cx="4880670" cy="276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73E93-B412-8881-435F-BFBD51789249}"/>
              </a:ext>
            </a:extLst>
          </p:cNvPr>
          <p:cNvSpPr txBox="1"/>
          <p:nvPr/>
        </p:nvSpPr>
        <p:spPr>
          <a:xfrm>
            <a:off x="262461" y="187373"/>
            <a:ext cx="874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1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26B232-0502-6570-EBF9-10B01EB8ED19}"/>
              </a:ext>
            </a:extLst>
          </p:cNvPr>
          <p:cNvSpPr txBox="1"/>
          <p:nvPr/>
        </p:nvSpPr>
        <p:spPr>
          <a:xfrm>
            <a:off x="1280688" y="191869"/>
            <a:ext cx="2351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전처리</a:t>
            </a: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 마무리 작업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5F1F1B-E522-D835-E180-36B786809A47}"/>
              </a:ext>
            </a:extLst>
          </p:cNvPr>
          <p:cNvSpPr/>
          <p:nvPr/>
        </p:nvSpPr>
        <p:spPr>
          <a:xfrm>
            <a:off x="6231328" y="1803400"/>
            <a:ext cx="5439972" cy="3898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620BED-F287-7820-6CE3-D979C58195EB}"/>
              </a:ext>
            </a:extLst>
          </p:cNvPr>
          <p:cNvSpPr/>
          <p:nvPr/>
        </p:nvSpPr>
        <p:spPr>
          <a:xfrm>
            <a:off x="6502400" y="2117027"/>
            <a:ext cx="4880670" cy="276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EA5D2-AF59-4B05-0AD1-36B5D19AF56B}"/>
              </a:ext>
            </a:extLst>
          </p:cNvPr>
          <p:cNvSpPr txBox="1"/>
          <p:nvPr/>
        </p:nvSpPr>
        <p:spPr>
          <a:xfrm>
            <a:off x="412921" y="2350047"/>
            <a:ext cx="5563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원 핫 인코딩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en-US" altLang="ko-KR" sz="2000" dirty="0" err="1"/>
              <a:t>get_dummies</a:t>
            </a:r>
            <a:r>
              <a:rPr lang="en-US" altLang="ko-KR" sz="2000" dirty="0"/>
              <a:t>()</a:t>
            </a:r>
            <a:r>
              <a:rPr lang="ko-KR" altLang="en-US" sz="2000" dirty="0"/>
              <a:t> 함수 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5E867-C0CA-CD62-EE21-1D6354348557}"/>
              </a:ext>
            </a:extLst>
          </p:cNvPr>
          <p:cNvSpPr txBox="1"/>
          <p:nvPr/>
        </p:nvSpPr>
        <p:spPr>
          <a:xfrm>
            <a:off x="7772691" y="4883445"/>
            <a:ext cx="2329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b="1" dirty="0" err="1"/>
              <a:t>중복값</a:t>
            </a:r>
            <a:r>
              <a:rPr lang="ko-KR" altLang="en-US" sz="3200" b="1" dirty="0"/>
              <a:t> 제거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4CB1F18-2469-6A83-07FC-A69A022E6886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6E813AE6-1652-92B8-B554-9BD863A17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17" y="4246464"/>
            <a:ext cx="4752337" cy="42751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9ED7EBF-ACAE-DE21-0E82-378F7CC06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797" y="4086808"/>
            <a:ext cx="4891273" cy="804043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E8DB971-36F7-CD97-4FC6-C722047E7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965264"/>
              </p:ext>
            </p:extLst>
          </p:nvPr>
        </p:nvGraphicFramePr>
        <p:xfrm>
          <a:off x="6747822" y="2732429"/>
          <a:ext cx="1371600" cy="1257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109179605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087017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190969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b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9C000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7853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706038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374708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b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9C000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42538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6250328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29F1C39-0BC7-7FF1-FC5B-11D53B268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657627"/>
              </p:ext>
            </p:extLst>
          </p:nvPr>
        </p:nvGraphicFramePr>
        <p:xfrm>
          <a:off x="9469785" y="2860213"/>
          <a:ext cx="1371600" cy="1047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68903086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736771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41072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b</a:t>
                      </a:r>
                      <a:endParaRPr lang="en-US" sz="1100" b="0" i="0" u="none" strike="noStrike" dirty="0">
                        <a:solidFill>
                          <a:srgbClr val="0061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61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0924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479520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074775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3225735"/>
                  </a:ext>
                </a:extLst>
              </a:tr>
            </a:tbl>
          </a:graphicData>
        </a:graphic>
      </p:graphicFrame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651FB3E-9EED-8F68-5C89-2A19655D7548}"/>
              </a:ext>
            </a:extLst>
          </p:cNvPr>
          <p:cNvCxnSpPr/>
          <p:nvPr/>
        </p:nvCxnSpPr>
        <p:spPr>
          <a:xfrm>
            <a:off x="8398933" y="3361079"/>
            <a:ext cx="787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30A72D3-B046-3F01-20CA-0CA86C191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286191"/>
              </p:ext>
            </p:extLst>
          </p:nvPr>
        </p:nvGraphicFramePr>
        <p:xfrm>
          <a:off x="825556" y="3241167"/>
          <a:ext cx="1371600" cy="83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182769869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698218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과일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9780526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사과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17490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바나나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80343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체리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6890225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4F21947-0158-8E15-F4C0-5D00B9BFE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969505"/>
              </p:ext>
            </p:extLst>
          </p:nvPr>
        </p:nvGraphicFramePr>
        <p:xfrm>
          <a:off x="2853290" y="3212592"/>
          <a:ext cx="2743200" cy="83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427539928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612809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8479238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4752208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사과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바나나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체리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61512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35414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222145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0323106"/>
                  </a:ext>
                </a:extLst>
              </a:tr>
            </a:tbl>
          </a:graphicData>
        </a:graphic>
      </p:graphicFrame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C9621B0-5957-937B-31BA-BD2D8750F945}"/>
              </a:ext>
            </a:extLst>
          </p:cNvPr>
          <p:cNvCxnSpPr/>
          <p:nvPr/>
        </p:nvCxnSpPr>
        <p:spPr>
          <a:xfrm>
            <a:off x="2318566" y="3554061"/>
            <a:ext cx="414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C1B4DE5-D635-2C6F-77DE-C859BE9017A5}"/>
              </a:ext>
            </a:extLst>
          </p:cNvPr>
          <p:cNvSpPr txBox="1"/>
          <p:nvPr/>
        </p:nvSpPr>
        <p:spPr>
          <a:xfrm>
            <a:off x="1385126" y="4883445"/>
            <a:ext cx="3653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b="1" dirty="0"/>
              <a:t>범주형 데이터 처리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49B6C1-D47E-9171-9260-17E36D8051A4}"/>
              </a:ext>
            </a:extLst>
          </p:cNvPr>
          <p:cNvSpPr txBox="1"/>
          <p:nvPr/>
        </p:nvSpPr>
        <p:spPr>
          <a:xfrm>
            <a:off x="7284234" y="2165308"/>
            <a:ext cx="3557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duplicated()</a:t>
            </a:r>
            <a:r>
              <a:rPr lang="ko-KR" altLang="en-US" sz="2000" dirty="0"/>
              <a:t>함수 사용</a:t>
            </a:r>
          </a:p>
        </p:txBody>
      </p:sp>
    </p:spTree>
    <p:extLst>
      <p:ext uri="{BB962C8B-B14F-4D97-AF65-F5344CB8AC3E}">
        <p14:creationId xmlns:p14="http://schemas.microsoft.com/office/powerpoint/2010/main" val="39386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돌이(가) 표시된 사진&#10;&#10;자동 생성된 설명">
            <a:extLst>
              <a:ext uri="{FF2B5EF4-FFF2-40B4-BE49-F238E27FC236}">
                <a16:creationId xmlns:a16="http://schemas.microsoft.com/office/drawing/2014/main" id="{A3EC4A07-9C7E-0B48-472D-ED162D35F5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4275" y="-1"/>
            <a:ext cx="6077725" cy="6858002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EB64DA2-CF28-1300-D1BE-BC4B0C612574}"/>
              </a:ext>
            </a:extLst>
          </p:cNvPr>
          <p:cNvCxnSpPr>
            <a:cxnSpLocks/>
          </p:cNvCxnSpPr>
          <p:nvPr/>
        </p:nvCxnSpPr>
        <p:spPr>
          <a:xfrm>
            <a:off x="737937" y="2570356"/>
            <a:ext cx="5358063" cy="0"/>
          </a:xfrm>
          <a:prstGeom prst="line">
            <a:avLst/>
          </a:prstGeom>
          <a:ln w="190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781F4A5-59A2-D820-926B-445ABCFE9532}"/>
              </a:ext>
            </a:extLst>
          </p:cNvPr>
          <p:cNvSpPr txBox="1"/>
          <p:nvPr/>
        </p:nvSpPr>
        <p:spPr>
          <a:xfrm>
            <a:off x="737937" y="2805317"/>
            <a:ext cx="935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Part 2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F4F531-38B8-8BAB-F0A9-99183AE094EA}"/>
              </a:ext>
            </a:extLst>
          </p:cNvPr>
          <p:cNvSpPr txBox="1"/>
          <p:nvPr/>
        </p:nvSpPr>
        <p:spPr>
          <a:xfrm>
            <a:off x="1735326" y="2805317"/>
            <a:ext cx="3555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교차검증 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모델 셋업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2473C-2443-64D6-1957-E73B3B85116A}"/>
              </a:ext>
            </a:extLst>
          </p:cNvPr>
          <p:cNvSpPr txBox="1"/>
          <p:nvPr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800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E31DA2-FF4C-B654-4475-106E96838B62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chemeClr val="tx1">
                    <a:lumMod val="75000"/>
                  </a:schemeClr>
                </a:solidFill>
              </a:rPr>
              <a:t>Part 2   </a:t>
            </a:r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381335-1558-67D8-8436-E66F533055E3}"/>
              </a:ext>
            </a:extLst>
          </p:cNvPr>
          <p:cNvSpPr txBox="1"/>
          <p:nvPr/>
        </p:nvSpPr>
        <p:spPr>
          <a:xfrm>
            <a:off x="1280688" y="191869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chemeClr val="tx1">
                    <a:lumMod val="75000"/>
                  </a:schemeClr>
                </a:solidFill>
                <a:latin typeface="+mn-ea"/>
              </a:rPr>
              <a:t>교차 검증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3F8686C-83BA-5E63-4BD4-306932B8C66D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BAE60F-C74F-177B-7F07-D0B686A7F7B6}"/>
              </a:ext>
            </a:extLst>
          </p:cNvPr>
          <p:cNvSpPr txBox="1"/>
          <p:nvPr/>
        </p:nvSpPr>
        <p:spPr>
          <a:xfrm>
            <a:off x="1644040" y="3908941"/>
            <a:ext cx="5671160" cy="6615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과적합 방지</a:t>
            </a:r>
            <a:r>
              <a:rPr lang="en-US" altLang="ko-KR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및 신뢰성 있는 모델 평가</a:t>
            </a:r>
            <a:endParaRPr lang="en-US" altLang="ko-KR" sz="1600" spc="-15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Fold</a:t>
            </a:r>
            <a:r>
              <a:rPr lang="ko-KR" altLang="en-US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를 교차하여 테스트 데이터로 사용함으로써  모델의 성능를 측정 </a:t>
            </a:r>
            <a:endParaRPr lang="ko-KR" altLang="en-US" sz="16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6E4B2-D904-0623-69DC-45A39265A1C4}"/>
              </a:ext>
            </a:extLst>
          </p:cNvPr>
          <p:cNvSpPr txBox="1"/>
          <p:nvPr/>
        </p:nvSpPr>
        <p:spPr>
          <a:xfrm>
            <a:off x="1416744" y="1789888"/>
            <a:ext cx="5278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K</a:t>
            </a:r>
            <a:r>
              <a:rPr lang="ko-KR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겹 교차검증</a:t>
            </a:r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(K-fold cross validation) 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382BF45-BC43-1688-F987-F9EA6ED9D03E}"/>
              </a:ext>
            </a:extLst>
          </p:cNvPr>
          <p:cNvCxnSpPr>
            <a:cxnSpLocks/>
          </p:cNvCxnSpPr>
          <p:nvPr/>
        </p:nvCxnSpPr>
        <p:spPr>
          <a:xfrm>
            <a:off x="1416744" y="2384404"/>
            <a:ext cx="467925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600A1A3E-F75F-C145-2105-422231188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040" y="2748280"/>
            <a:ext cx="7761217" cy="92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0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D9E1A1-6782-1E23-6A30-42110A7562E3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chemeClr val="tx1">
                    <a:lumMod val="75000"/>
                  </a:schemeClr>
                </a:solidFill>
              </a:rPr>
              <a:t>Part 2   </a:t>
            </a:r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4CCF2-61A6-E240-0780-B51D8D72BF36}"/>
              </a:ext>
            </a:extLst>
          </p:cNvPr>
          <p:cNvSpPr txBox="1"/>
          <p:nvPr/>
        </p:nvSpPr>
        <p:spPr>
          <a:xfrm>
            <a:off x="1280688" y="191869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chemeClr val="tx1">
                    <a:lumMod val="75000"/>
                  </a:schemeClr>
                </a:solidFill>
                <a:latin typeface="+mn-ea"/>
              </a:rPr>
              <a:t>교차 검증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143E6FC-AD01-5909-31E1-C8B4ECB98A8D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121DABD-863D-504B-003E-61C427CA81BA}"/>
              </a:ext>
            </a:extLst>
          </p:cNvPr>
          <p:cNvSpPr txBox="1"/>
          <p:nvPr/>
        </p:nvSpPr>
        <p:spPr>
          <a:xfrm>
            <a:off x="1653579" y="4394074"/>
            <a:ext cx="5671160" cy="6615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mean_squared_error () </a:t>
            </a:r>
            <a:r>
              <a:rPr lang="ko-KR" altLang="en-US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로 도출                 </a:t>
            </a:r>
            <a:r>
              <a:rPr lang="en-US" altLang="ko-KR" sz="1600" b="1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RMSLE</a:t>
            </a:r>
          </a:p>
          <a:p>
            <a:pPr algn="just">
              <a:lnSpc>
                <a:spcPct val="120000"/>
              </a:lnSpc>
            </a:pPr>
            <a:r>
              <a:rPr lang="en-US" altLang="ko-KR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cross_val_scroe() </a:t>
            </a:r>
            <a:r>
              <a:rPr lang="ko-KR" altLang="en-US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과 </a:t>
            </a:r>
            <a:r>
              <a:rPr lang="en-US" altLang="ko-KR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Kfold</a:t>
            </a:r>
            <a:r>
              <a:rPr lang="ko-KR" altLang="en-US"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교차검증 적용                 </a:t>
            </a:r>
            <a:r>
              <a:rPr lang="en-US" altLang="ko-KR" sz="1600" b="1" spc="-1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RMSE</a:t>
            </a:r>
            <a:endParaRPr lang="ko-KR" altLang="en-US" sz="16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EF55FD-C4B3-57C5-2771-2D0BBA75D834}"/>
              </a:ext>
            </a:extLst>
          </p:cNvPr>
          <p:cNvSpPr txBox="1"/>
          <p:nvPr/>
        </p:nvSpPr>
        <p:spPr>
          <a:xfrm>
            <a:off x="1416744" y="1789888"/>
            <a:ext cx="5278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K</a:t>
            </a:r>
            <a:r>
              <a:rPr lang="ko-KR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겹 교차검증</a:t>
            </a:r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(K-fold cross validation) 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F032BCC-FED3-7B17-77E4-0ED2D4C7529C}"/>
              </a:ext>
            </a:extLst>
          </p:cNvPr>
          <p:cNvCxnSpPr>
            <a:cxnSpLocks/>
          </p:cNvCxnSpPr>
          <p:nvPr/>
        </p:nvCxnSpPr>
        <p:spPr>
          <a:xfrm>
            <a:off x="1416744" y="2384404"/>
            <a:ext cx="467925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1D8B1DC5-9E48-BE16-DF7F-D792E8C4FA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265" b="10241"/>
          <a:stretch/>
        </p:blipFill>
        <p:spPr bwMode="auto">
          <a:xfrm>
            <a:off x="1653579" y="2736691"/>
            <a:ext cx="7348624" cy="13846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25E96F3-C93C-EEFF-0755-EA4DF7A87B25}"/>
              </a:ext>
            </a:extLst>
          </p:cNvPr>
          <p:cNvCxnSpPr>
            <a:cxnSpLocks/>
          </p:cNvCxnSpPr>
          <p:nvPr/>
        </p:nvCxnSpPr>
        <p:spPr>
          <a:xfrm>
            <a:off x="4021494" y="4592482"/>
            <a:ext cx="363893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B8B05D0-0355-3203-02E0-2C41C6A66B05}"/>
              </a:ext>
            </a:extLst>
          </p:cNvPr>
          <p:cNvCxnSpPr>
            <a:cxnSpLocks/>
          </p:cNvCxnSpPr>
          <p:nvPr/>
        </p:nvCxnSpPr>
        <p:spPr>
          <a:xfrm>
            <a:off x="4696409" y="4875511"/>
            <a:ext cx="363893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225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F3D7B-C0FC-BBEA-7208-97DF11B0A221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chemeClr val="tx1">
                    <a:lumMod val="75000"/>
                  </a:schemeClr>
                </a:solidFill>
              </a:rPr>
              <a:t>Part 2   </a:t>
            </a:r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2162B9-F038-BE8C-C11A-943DAE0F4515}"/>
              </a:ext>
            </a:extLst>
          </p:cNvPr>
          <p:cNvSpPr txBox="1"/>
          <p:nvPr/>
        </p:nvSpPr>
        <p:spPr>
          <a:xfrm>
            <a:off x="1280688" y="191869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chemeClr val="tx1">
                    <a:lumMod val="75000"/>
                  </a:schemeClr>
                </a:solidFill>
                <a:latin typeface="+mn-ea"/>
              </a:rPr>
              <a:t>모델 셋업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910FB8E-607F-4341-EF75-338DEA69B921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19EB213-A4C4-137E-860C-5CB742051F0E}"/>
              </a:ext>
            </a:extLst>
          </p:cNvPr>
          <p:cNvSpPr/>
          <p:nvPr/>
        </p:nvSpPr>
        <p:spPr>
          <a:xfrm>
            <a:off x="1139349" y="1053372"/>
            <a:ext cx="1954220" cy="468361"/>
          </a:xfrm>
          <a:prstGeom prst="roundRect">
            <a:avLst>
              <a:gd name="adj" fmla="val 3022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898F9EB-9A8D-E7AF-462C-1D98B3DB3E2F}"/>
              </a:ext>
            </a:extLst>
          </p:cNvPr>
          <p:cNvSpPr/>
          <p:nvPr/>
        </p:nvSpPr>
        <p:spPr>
          <a:xfrm>
            <a:off x="1139349" y="3097437"/>
            <a:ext cx="1954220" cy="468361"/>
          </a:xfrm>
          <a:prstGeom prst="roundRect">
            <a:avLst>
              <a:gd name="adj" fmla="val 3022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F0B4618-03D7-C62F-B21E-B5F1554F8887}"/>
              </a:ext>
            </a:extLst>
          </p:cNvPr>
          <p:cNvSpPr/>
          <p:nvPr/>
        </p:nvSpPr>
        <p:spPr>
          <a:xfrm>
            <a:off x="1139349" y="5141502"/>
            <a:ext cx="1954220" cy="468361"/>
          </a:xfrm>
          <a:prstGeom prst="roundRect">
            <a:avLst>
              <a:gd name="adj" fmla="val 3022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9228F-E5A9-E71B-1629-FB5F26FF4C6D}"/>
              </a:ext>
            </a:extLst>
          </p:cNvPr>
          <p:cNvSpPr txBox="1"/>
          <p:nvPr/>
        </p:nvSpPr>
        <p:spPr>
          <a:xfrm>
            <a:off x="1768445" y="1109932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300">
                <a:solidFill>
                  <a:schemeClr val="bg1"/>
                </a:solidFill>
                <a:latin typeface="+mj-ea"/>
                <a:ea typeface="+mj-ea"/>
              </a:rPr>
              <a:t>GBR</a:t>
            </a:r>
            <a:endParaRPr lang="en-US" altLang="ko-KR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033FB1-3223-4A7B-0582-E7617D50E092}"/>
              </a:ext>
            </a:extLst>
          </p:cNvPr>
          <p:cNvSpPr txBox="1"/>
          <p:nvPr/>
        </p:nvSpPr>
        <p:spPr>
          <a:xfrm>
            <a:off x="1600756" y="3153997"/>
            <a:ext cx="9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50">
                <a:solidFill>
                  <a:schemeClr val="bg1"/>
                </a:solidFill>
                <a:latin typeface="+mj-ea"/>
                <a:ea typeface="+mj-ea"/>
              </a:rPr>
              <a:t>LightGBM</a:t>
            </a:r>
            <a:endParaRPr lang="en-US" altLang="ko-KR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39E6A6-3509-7C70-78F5-5BD60F607442}"/>
              </a:ext>
            </a:extLst>
          </p:cNvPr>
          <p:cNvSpPr txBox="1"/>
          <p:nvPr/>
        </p:nvSpPr>
        <p:spPr>
          <a:xfrm>
            <a:off x="1695638" y="5198062"/>
            <a:ext cx="841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50">
                <a:solidFill>
                  <a:schemeClr val="bg1"/>
                </a:solidFill>
                <a:latin typeface="+mj-ea"/>
                <a:ea typeface="+mj-ea"/>
              </a:rPr>
              <a:t>XGBoost</a:t>
            </a:r>
            <a:endParaRPr lang="en-US" altLang="ko-KR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1" name="그림 10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B427C6A5-66DA-F276-C44A-1E35C173A4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93" r="46730"/>
          <a:stretch/>
        </p:blipFill>
        <p:spPr>
          <a:xfrm>
            <a:off x="4497106" y="1053372"/>
            <a:ext cx="4842837" cy="1563999"/>
          </a:xfrm>
          <a:prstGeom prst="rect">
            <a:avLst/>
          </a:prstGeom>
        </p:spPr>
      </p:pic>
      <p:pic>
        <p:nvPicPr>
          <p:cNvPr id="12" name="그림 11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F961A904-3804-12ED-A2EB-854B879578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80" r="46094" b="763"/>
          <a:stretch/>
        </p:blipFill>
        <p:spPr bwMode="auto">
          <a:xfrm>
            <a:off x="4516211" y="2885277"/>
            <a:ext cx="4823732" cy="19317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그림 1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821B52C4-0996-159E-D93E-86E03B3B14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282" r="42225"/>
          <a:stretch/>
        </p:blipFill>
        <p:spPr>
          <a:xfrm>
            <a:off x="4516210" y="5022587"/>
            <a:ext cx="4842837" cy="1686414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28E1B923-9A82-F61D-CD7E-A9620B3DEEDB}"/>
              </a:ext>
            </a:extLst>
          </p:cNvPr>
          <p:cNvGrpSpPr/>
          <p:nvPr/>
        </p:nvGrpSpPr>
        <p:grpSpPr>
          <a:xfrm>
            <a:off x="1344723" y="3779262"/>
            <a:ext cx="1227516" cy="581355"/>
            <a:chOff x="5445089" y="2477057"/>
            <a:chExt cx="1276219" cy="60442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37C725-F831-CBE3-F8B1-1D2D3AA06300}"/>
                </a:ext>
              </a:extLst>
            </p:cNvPr>
            <p:cNvSpPr txBox="1"/>
            <p:nvPr/>
          </p:nvSpPr>
          <p:spPr>
            <a:xfrm>
              <a:off x="5445089" y="2477057"/>
              <a:ext cx="1276219" cy="319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82563" indent="-182563">
                <a:buFont typeface="Wingdings" panose="05000000000000000000" pitchFamily="2" charset="2"/>
                <a:buChar char="§"/>
              </a:pPr>
              <a:r>
                <a:rPr lang="en-US" altLang="ko-KR" sz="1400" spc="-150"/>
                <a:t>Leaf-wise </a:t>
              </a:r>
              <a:r>
                <a:rPr lang="ko-KR" altLang="en-US" sz="1400" spc="-150"/>
                <a:t>분산</a:t>
              </a:r>
              <a:endParaRPr lang="ko-KR" altLang="en-US" sz="1400" spc="-15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CF9B1C-744B-71E9-19BF-652A007898B4}"/>
                </a:ext>
              </a:extLst>
            </p:cNvPr>
            <p:cNvSpPr txBox="1"/>
            <p:nvPr/>
          </p:nvSpPr>
          <p:spPr>
            <a:xfrm>
              <a:off x="5445089" y="2761490"/>
              <a:ext cx="192060" cy="319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400" spc="-150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7636DC5-BBBC-2E28-7B0A-65BC1A938A15}"/>
              </a:ext>
            </a:extLst>
          </p:cNvPr>
          <p:cNvGrpSpPr/>
          <p:nvPr/>
        </p:nvGrpSpPr>
        <p:grpSpPr>
          <a:xfrm>
            <a:off x="1334205" y="5798391"/>
            <a:ext cx="1314078" cy="562605"/>
            <a:chOff x="5163099" y="2496552"/>
            <a:chExt cx="1366216" cy="58492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FA00AC-0411-B5D0-97FA-5251598294DA}"/>
                </a:ext>
              </a:extLst>
            </p:cNvPr>
            <p:cNvSpPr txBox="1"/>
            <p:nvPr/>
          </p:nvSpPr>
          <p:spPr>
            <a:xfrm>
              <a:off x="5163099" y="2496552"/>
              <a:ext cx="1366216" cy="319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82563" indent="-182563">
                <a:buFont typeface="Wingdings" panose="05000000000000000000" pitchFamily="2" charset="2"/>
                <a:buChar char="§"/>
              </a:pPr>
              <a:r>
                <a:rPr lang="en-US" altLang="ko-KR" sz="1400" spc="-150"/>
                <a:t>Level-wise </a:t>
              </a:r>
              <a:r>
                <a:rPr lang="ko-KR" altLang="en-US" sz="1400" spc="-150"/>
                <a:t>분산</a:t>
              </a:r>
              <a:endParaRPr lang="ko-KR" altLang="en-US" sz="1400" spc="-15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2149128-02E6-7D8D-AF41-5FD2E8602DE6}"/>
                </a:ext>
              </a:extLst>
            </p:cNvPr>
            <p:cNvSpPr txBox="1"/>
            <p:nvPr/>
          </p:nvSpPr>
          <p:spPr>
            <a:xfrm>
              <a:off x="5445089" y="2761490"/>
              <a:ext cx="192060" cy="319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400" spc="-150" dirty="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E087B57-448E-E77B-84B8-D3247006E85D}"/>
              </a:ext>
            </a:extLst>
          </p:cNvPr>
          <p:cNvGrpSpPr/>
          <p:nvPr/>
        </p:nvGrpSpPr>
        <p:grpSpPr>
          <a:xfrm>
            <a:off x="1334205" y="1707495"/>
            <a:ext cx="1714252" cy="625109"/>
            <a:chOff x="5237064" y="2431567"/>
            <a:chExt cx="1782267" cy="64991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ED35517-D7ED-2BD2-49B5-7C46F52BF2CB}"/>
                </a:ext>
              </a:extLst>
            </p:cNvPr>
            <p:cNvSpPr txBox="1"/>
            <p:nvPr/>
          </p:nvSpPr>
          <p:spPr>
            <a:xfrm>
              <a:off x="5237064" y="2431567"/>
              <a:ext cx="1782267" cy="319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82563" indent="-182563">
                <a:buFont typeface="Wingdings" panose="05000000000000000000" pitchFamily="2" charset="2"/>
                <a:buChar char="§"/>
              </a:pPr>
              <a:r>
                <a:rPr lang="ko-KR" altLang="en-US" sz="1400" spc="-150"/>
                <a:t>잔차 학습 트리 모델</a:t>
              </a:r>
              <a:endParaRPr lang="ko-KR" altLang="en-US" sz="1400" spc="-15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BDB689-841E-7ADA-12A9-34AC444FDB53}"/>
                </a:ext>
              </a:extLst>
            </p:cNvPr>
            <p:cNvSpPr txBox="1"/>
            <p:nvPr/>
          </p:nvSpPr>
          <p:spPr>
            <a:xfrm>
              <a:off x="5445089" y="2761490"/>
              <a:ext cx="192060" cy="319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400" spc="-150" dirty="0"/>
            </a:p>
          </p:txBody>
        </p:sp>
      </p:grpSp>
    </p:spTree>
    <p:extLst>
      <p:ext uri="{BB962C8B-B14F-4D97-AF65-F5344CB8AC3E}">
        <p14:creationId xmlns:p14="http://schemas.microsoft.com/office/powerpoint/2010/main" val="1826434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472451-65AA-985E-A1DA-AAB29DD56A24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chemeClr val="tx1">
                    <a:lumMod val="75000"/>
                  </a:schemeClr>
                </a:solidFill>
              </a:rPr>
              <a:t>Part 2   </a:t>
            </a:r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2F43FD-F71B-138F-E5A9-E7F668DC74D7}"/>
              </a:ext>
            </a:extLst>
          </p:cNvPr>
          <p:cNvSpPr txBox="1"/>
          <p:nvPr/>
        </p:nvSpPr>
        <p:spPr>
          <a:xfrm>
            <a:off x="1280688" y="191869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chemeClr val="tx1">
                    <a:lumMod val="75000"/>
                  </a:schemeClr>
                </a:solidFill>
                <a:latin typeface="+mn-ea"/>
              </a:rPr>
              <a:t>모델 셋업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BB411E7-7867-73A6-942D-E37316A9A846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D854F7B-1DB7-F872-6B87-6B794CA83BC9}"/>
              </a:ext>
            </a:extLst>
          </p:cNvPr>
          <p:cNvSpPr/>
          <p:nvPr/>
        </p:nvSpPr>
        <p:spPr>
          <a:xfrm>
            <a:off x="1139349" y="1053372"/>
            <a:ext cx="1954220" cy="468361"/>
          </a:xfrm>
          <a:prstGeom prst="roundRect">
            <a:avLst>
              <a:gd name="adj" fmla="val 3022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92F4C6D-75B2-9C24-2AF5-8CD3A9DBE48F}"/>
              </a:ext>
            </a:extLst>
          </p:cNvPr>
          <p:cNvSpPr/>
          <p:nvPr/>
        </p:nvSpPr>
        <p:spPr>
          <a:xfrm>
            <a:off x="1139349" y="3097437"/>
            <a:ext cx="1954220" cy="468361"/>
          </a:xfrm>
          <a:prstGeom prst="roundRect">
            <a:avLst>
              <a:gd name="adj" fmla="val 3022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E3A39-2C30-0E24-FAA2-899F34B3F951}"/>
              </a:ext>
            </a:extLst>
          </p:cNvPr>
          <p:cNvSpPr txBox="1"/>
          <p:nvPr/>
        </p:nvSpPr>
        <p:spPr>
          <a:xfrm>
            <a:off x="1666814" y="1109932"/>
            <a:ext cx="899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300">
                <a:solidFill>
                  <a:schemeClr val="bg1"/>
                </a:solidFill>
                <a:latin typeface="+mj-ea"/>
                <a:ea typeface="+mj-ea"/>
              </a:rPr>
              <a:t>Ridge</a:t>
            </a:r>
            <a:endParaRPr lang="en-US" altLang="ko-KR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CD028-C646-A135-E48C-2653FEA19E05}"/>
              </a:ext>
            </a:extLst>
          </p:cNvPr>
          <p:cNvSpPr txBox="1"/>
          <p:nvPr/>
        </p:nvSpPr>
        <p:spPr>
          <a:xfrm>
            <a:off x="1418110" y="3153997"/>
            <a:ext cx="1320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50">
                <a:solidFill>
                  <a:schemeClr val="bg1"/>
                </a:solidFill>
                <a:latin typeface="+mj-ea"/>
                <a:ea typeface="+mj-ea"/>
              </a:rPr>
              <a:t>RandomForest</a:t>
            </a:r>
            <a:endParaRPr lang="en-US" altLang="ko-KR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68D478B-11D6-B810-9761-0CBA70396419}"/>
              </a:ext>
            </a:extLst>
          </p:cNvPr>
          <p:cNvGrpSpPr/>
          <p:nvPr/>
        </p:nvGrpSpPr>
        <p:grpSpPr>
          <a:xfrm>
            <a:off x="1344722" y="3779262"/>
            <a:ext cx="1372812" cy="581355"/>
            <a:chOff x="5445089" y="2477057"/>
            <a:chExt cx="1427280" cy="60442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D22A8F-1680-D11B-E959-9CE5BA5BD22D}"/>
                </a:ext>
              </a:extLst>
            </p:cNvPr>
            <p:cNvSpPr txBox="1"/>
            <p:nvPr/>
          </p:nvSpPr>
          <p:spPr>
            <a:xfrm>
              <a:off x="5445089" y="2477057"/>
              <a:ext cx="1427280" cy="319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82563" indent="-182563">
                <a:buFont typeface="Wingdings" panose="05000000000000000000" pitchFamily="2" charset="2"/>
                <a:buChar char="§"/>
              </a:pPr>
              <a:r>
                <a:rPr lang="ko-KR" altLang="en-US" sz="1400" spc="-150"/>
                <a:t>랜덤 추출 샘플</a:t>
              </a:r>
              <a:endParaRPr lang="ko-KR" altLang="en-US" sz="1400" spc="-15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E71374-3B85-AE7F-6E7F-6823AF689996}"/>
                </a:ext>
              </a:extLst>
            </p:cNvPr>
            <p:cNvSpPr txBox="1"/>
            <p:nvPr/>
          </p:nvSpPr>
          <p:spPr>
            <a:xfrm>
              <a:off x="5445089" y="2761490"/>
              <a:ext cx="192060" cy="319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400" spc="-15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F47AFE6-9E42-F946-A3E1-945F017ED1A5}"/>
              </a:ext>
            </a:extLst>
          </p:cNvPr>
          <p:cNvGrpSpPr/>
          <p:nvPr/>
        </p:nvGrpSpPr>
        <p:grpSpPr>
          <a:xfrm>
            <a:off x="1334210" y="1707495"/>
            <a:ext cx="1553952" cy="625109"/>
            <a:chOff x="5237064" y="2431567"/>
            <a:chExt cx="1615606" cy="64991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83E97BE-5E65-5B7E-C1E4-E84C6A9E12FE}"/>
                </a:ext>
              </a:extLst>
            </p:cNvPr>
            <p:cNvSpPr txBox="1"/>
            <p:nvPr/>
          </p:nvSpPr>
          <p:spPr>
            <a:xfrm>
              <a:off x="5237064" y="2431567"/>
              <a:ext cx="1615606" cy="5439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82563" indent="-182563">
                <a:buFont typeface="Wingdings" panose="05000000000000000000" pitchFamily="2" charset="2"/>
                <a:buChar char="§"/>
              </a:pPr>
              <a:r>
                <a:rPr lang="ko-KR" altLang="en-US" sz="1400" spc="-150"/>
                <a:t>과적합 방지 위한 </a:t>
              </a:r>
              <a:endParaRPr lang="en-US" altLang="ko-KR" sz="1400" spc="-150"/>
            </a:p>
            <a:p>
              <a:r>
                <a:rPr lang="ko-KR" altLang="en-US" sz="1400" spc="-150"/>
                <a:t>규제항 추가</a:t>
              </a:r>
              <a:endParaRPr lang="en-US" altLang="ko-KR" sz="1400" spc="-1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66076A-9521-A7E4-1728-A1818DE2E805}"/>
                </a:ext>
              </a:extLst>
            </p:cNvPr>
            <p:cNvSpPr txBox="1"/>
            <p:nvPr/>
          </p:nvSpPr>
          <p:spPr>
            <a:xfrm>
              <a:off x="5445089" y="2761490"/>
              <a:ext cx="192060" cy="319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400" spc="-150" dirty="0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27CA891A-496E-7221-9293-BEDDBCB2B9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647"/>
          <a:stretch/>
        </p:blipFill>
        <p:spPr>
          <a:xfrm>
            <a:off x="3621034" y="1109933"/>
            <a:ext cx="8312818" cy="914894"/>
          </a:xfrm>
          <a:prstGeom prst="rect">
            <a:avLst/>
          </a:prstGeom>
        </p:spPr>
      </p:pic>
      <p:pic>
        <p:nvPicPr>
          <p:cNvPr id="16" name="그림 15" descr="텍스트, 폰트, 스크린샷, 대수학이(가) 표시된 사진&#10;&#10;자동 생성된 설명">
            <a:extLst>
              <a:ext uri="{FF2B5EF4-FFF2-40B4-BE49-F238E27FC236}">
                <a16:creationId xmlns:a16="http://schemas.microsoft.com/office/drawing/2014/main" id="{B41645D4-71AB-70D1-93B8-F0D2461EE9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847" r="15838"/>
          <a:stretch/>
        </p:blipFill>
        <p:spPr>
          <a:xfrm>
            <a:off x="3621033" y="2969739"/>
            <a:ext cx="8340395" cy="1390869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32612B0-D16C-1B8C-CC25-43000935D663}"/>
              </a:ext>
            </a:extLst>
          </p:cNvPr>
          <p:cNvCxnSpPr>
            <a:cxnSpLocks/>
          </p:cNvCxnSpPr>
          <p:nvPr/>
        </p:nvCxnSpPr>
        <p:spPr>
          <a:xfrm>
            <a:off x="3884646" y="2230715"/>
            <a:ext cx="363893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AF5D145-3C26-BA36-CBC5-A778BB89B945}"/>
              </a:ext>
            </a:extLst>
          </p:cNvPr>
          <p:cNvSpPr txBox="1"/>
          <p:nvPr/>
        </p:nvSpPr>
        <p:spPr>
          <a:xfrm>
            <a:off x="4248539" y="2076826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150"/>
              <a:t>Alpha value</a:t>
            </a:r>
            <a:r>
              <a:rPr lang="ko-KR" altLang="en-US" sz="1400" spc="-150"/>
              <a:t>로 규제 강도 조정</a:t>
            </a:r>
            <a:endParaRPr lang="ko-KR" altLang="en-US" sz="1400" spc="-15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51EED1D-B2E5-2A38-97B9-E654C21952A4}"/>
              </a:ext>
            </a:extLst>
          </p:cNvPr>
          <p:cNvSpPr/>
          <p:nvPr/>
        </p:nvSpPr>
        <p:spPr>
          <a:xfrm>
            <a:off x="1060743" y="5040138"/>
            <a:ext cx="1954220" cy="468361"/>
          </a:xfrm>
          <a:prstGeom prst="roundRect">
            <a:avLst>
              <a:gd name="adj" fmla="val 3022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A9FF2F-EF66-5559-7A56-7084FA0509B1}"/>
              </a:ext>
            </a:extLst>
          </p:cNvPr>
          <p:cNvSpPr txBox="1"/>
          <p:nvPr/>
        </p:nvSpPr>
        <p:spPr>
          <a:xfrm>
            <a:off x="1755930" y="5096698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50" dirty="0">
                <a:solidFill>
                  <a:schemeClr val="bg1"/>
                </a:solidFill>
                <a:latin typeface="+mj-ea"/>
                <a:ea typeface="+mj-ea"/>
              </a:rPr>
              <a:t>SVR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B6092D-15FD-A39A-010B-664A7EE5152B}"/>
              </a:ext>
            </a:extLst>
          </p:cNvPr>
          <p:cNvGrpSpPr/>
          <p:nvPr/>
        </p:nvGrpSpPr>
        <p:grpSpPr>
          <a:xfrm>
            <a:off x="1266114" y="5721963"/>
            <a:ext cx="1372812" cy="581355"/>
            <a:chOff x="5445089" y="2477057"/>
            <a:chExt cx="1427280" cy="6044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15496-1E01-0784-6D0F-7107B5A12951}"/>
                </a:ext>
              </a:extLst>
            </p:cNvPr>
            <p:cNvSpPr txBox="1"/>
            <p:nvPr/>
          </p:nvSpPr>
          <p:spPr>
            <a:xfrm>
              <a:off x="5445089" y="2477057"/>
              <a:ext cx="1427280" cy="5439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82563" indent="-182563">
                <a:buFont typeface="Wingdings" panose="05000000000000000000" pitchFamily="2" charset="2"/>
                <a:buChar char="§"/>
              </a:pPr>
              <a:r>
                <a:rPr lang="ko-KR" altLang="en-US" sz="1400" spc="-150" dirty="0"/>
                <a:t>비선형 데이터</a:t>
              </a:r>
              <a:endParaRPr lang="en-US" altLang="ko-KR" sz="1400" spc="-150" dirty="0"/>
            </a:p>
            <a:p>
              <a:pPr marL="182563" indent="-182563">
                <a:buFont typeface="Wingdings" panose="05000000000000000000" pitchFamily="2" charset="2"/>
                <a:buChar char="§"/>
              </a:pPr>
              <a:r>
                <a:rPr lang="ko-KR" altLang="en-US" sz="1400" spc="-150" dirty="0"/>
                <a:t>학습 가능 모델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01AF4A-D354-2A60-04C9-3B8E0E90B860}"/>
                </a:ext>
              </a:extLst>
            </p:cNvPr>
            <p:cNvSpPr txBox="1"/>
            <p:nvPr/>
          </p:nvSpPr>
          <p:spPr>
            <a:xfrm>
              <a:off x="5445089" y="2761490"/>
              <a:ext cx="192060" cy="319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400" spc="-150" dirty="0"/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E05F27C7-0EF7-980E-9240-0D9A50FC8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33" y="4995957"/>
            <a:ext cx="834039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88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돌이(가) 표시된 사진&#10;&#10;자동 생성된 설명">
            <a:extLst>
              <a:ext uri="{FF2B5EF4-FFF2-40B4-BE49-F238E27FC236}">
                <a16:creationId xmlns:a16="http://schemas.microsoft.com/office/drawing/2014/main" id="{A3EC4A07-9C7E-0B48-472D-ED162D35F5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4275" y="-1"/>
            <a:ext cx="6077725" cy="6858002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EB64DA2-CF28-1300-D1BE-BC4B0C612574}"/>
              </a:ext>
            </a:extLst>
          </p:cNvPr>
          <p:cNvCxnSpPr>
            <a:cxnSpLocks/>
          </p:cNvCxnSpPr>
          <p:nvPr/>
        </p:nvCxnSpPr>
        <p:spPr>
          <a:xfrm>
            <a:off x="737937" y="2570356"/>
            <a:ext cx="5358063" cy="0"/>
          </a:xfrm>
          <a:prstGeom prst="line">
            <a:avLst/>
          </a:prstGeom>
          <a:ln w="190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781F4A5-59A2-D820-926B-445ABCFE9532}"/>
              </a:ext>
            </a:extLst>
          </p:cNvPr>
          <p:cNvSpPr txBox="1"/>
          <p:nvPr/>
        </p:nvSpPr>
        <p:spPr>
          <a:xfrm>
            <a:off x="737937" y="2805317"/>
            <a:ext cx="935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Part 3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F4F531-38B8-8BAB-F0A9-99183AE094EA}"/>
              </a:ext>
            </a:extLst>
          </p:cNvPr>
          <p:cNvSpPr txBox="1"/>
          <p:nvPr/>
        </p:nvSpPr>
        <p:spPr>
          <a:xfrm>
            <a:off x="1735326" y="2805317"/>
            <a:ext cx="3302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chemeClr val="bg1"/>
                </a:solidFill>
                <a:latin typeface="+mn-ea"/>
              </a:rPr>
              <a:t>스태킹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 및 모델 평가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2473C-2443-64D6-1957-E73B3B85116A}"/>
              </a:ext>
            </a:extLst>
          </p:cNvPr>
          <p:cNvSpPr txBox="1"/>
          <p:nvPr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591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A653DE-27C9-7501-B7D2-7F44EF6A3146}"/>
              </a:ext>
            </a:extLst>
          </p:cNvPr>
          <p:cNvSpPr txBox="1"/>
          <p:nvPr/>
        </p:nvSpPr>
        <p:spPr>
          <a:xfrm>
            <a:off x="1280688" y="191869"/>
            <a:ext cx="1071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Stacking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FE6118E-03EA-1DE1-E00A-623579A6D89E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B26CA37-7114-E3F5-574D-53C25FCFF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687" y="1033363"/>
            <a:ext cx="9964117" cy="5302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387828-E66A-D063-F396-7181B71F83AC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3 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663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2CF3DA-F4EE-4D69-26B8-A769ECE3FC7D}"/>
              </a:ext>
            </a:extLst>
          </p:cNvPr>
          <p:cNvSpPr txBox="1"/>
          <p:nvPr/>
        </p:nvSpPr>
        <p:spPr>
          <a:xfrm>
            <a:off x="1280688" y="191869"/>
            <a:ext cx="17177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Score function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52E1212-7FD5-130B-34B3-919B3DF865C9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B0DD79A9-948D-7126-0BA6-B9BE417131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091"/>
          <a:stretch/>
        </p:blipFill>
        <p:spPr>
          <a:xfrm>
            <a:off x="1110534" y="1729529"/>
            <a:ext cx="5177412" cy="23796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A6222B-CE03-A472-BC17-EA741642B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509" y="4182636"/>
            <a:ext cx="1777565" cy="1602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21A1593-3AF6-68B8-D096-B8CF729152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52101"/>
          <a:stretch/>
        </p:blipFill>
        <p:spPr>
          <a:xfrm>
            <a:off x="1110532" y="4391673"/>
            <a:ext cx="5177414" cy="9940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6BB4CD-1112-07C3-9A66-D31840E0B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482" y="1710368"/>
            <a:ext cx="5819339" cy="24722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28C141-13E7-DE4D-4E73-2F3D9F753E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235"/>
          <a:stretch/>
        </p:blipFill>
        <p:spPr>
          <a:xfrm>
            <a:off x="6317894" y="4148775"/>
            <a:ext cx="5874106" cy="1167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8D25F5-1B61-6DA3-4851-8A92F95CB4EF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3 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044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3F5607-4869-68E3-DF8A-5555C3EACE74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3 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AFE24-2167-3F03-D655-B54FC32725FE}"/>
              </a:ext>
            </a:extLst>
          </p:cNvPr>
          <p:cNvSpPr txBox="1"/>
          <p:nvPr/>
        </p:nvSpPr>
        <p:spPr>
          <a:xfrm>
            <a:off x="1280688" y="191869"/>
            <a:ext cx="1401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Fit function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7ED60E1-A4F9-DDDA-EE8A-6ED6A42CCFA0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773D32A9-A73B-FD74-8DEF-22240C95F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88" y="1622852"/>
            <a:ext cx="5779894" cy="7731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E16FB9-102C-7BD8-EB98-C22A32763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688" y="3066830"/>
            <a:ext cx="4942312" cy="16056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D5CF8B5-B98C-ED22-A3B9-7A4819457A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051"/>
          <a:stretch/>
        </p:blipFill>
        <p:spPr>
          <a:xfrm>
            <a:off x="6645410" y="2984195"/>
            <a:ext cx="5241791" cy="264110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448C82D-2462-B2BE-B15B-9C1AF5CF5F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0384"/>
          <a:stretch/>
        </p:blipFill>
        <p:spPr>
          <a:xfrm>
            <a:off x="1153688" y="4966585"/>
            <a:ext cx="5241791" cy="70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49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돌이(가) 표시된 사진&#10;&#10;자동 생성된 설명">
            <a:extLst>
              <a:ext uri="{FF2B5EF4-FFF2-40B4-BE49-F238E27FC236}">
                <a16:creationId xmlns:a16="http://schemas.microsoft.com/office/drawing/2014/main" id="{A3EC4A07-9C7E-0B48-472D-ED162D35F5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4275" y="-1"/>
            <a:ext cx="6077725" cy="6858002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EB64DA2-CF28-1300-D1BE-BC4B0C612574}"/>
              </a:ext>
            </a:extLst>
          </p:cNvPr>
          <p:cNvCxnSpPr>
            <a:cxnSpLocks/>
          </p:cNvCxnSpPr>
          <p:nvPr/>
        </p:nvCxnSpPr>
        <p:spPr>
          <a:xfrm>
            <a:off x="737937" y="2570356"/>
            <a:ext cx="5358063" cy="0"/>
          </a:xfrm>
          <a:prstGeom prst="line">
            <a:avLst/>
          </a:prstGeom>
          <a:ln w="190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781F4A5-59A2-D820-926B-445ABCFE9532}"/>
              </a:ext>
            </a:extLst>
          </p:cNvPr>
          <p:cNvSpPr txBox="1"/>
          <p:nvPr/>
        </p:nvSpPr>
        <p:spPr>
          <a:xfrm>
            <a:off x="737937" y="2805317"/>
            <a:ext cx="935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Part 4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F4F531-38B8-8BAB-F0A9-99183AE094EA}"/>
              </a:ext>
            </a:extLst>
          </p:cNvPr>
          <p:cNvSpPr txBox="1"/>
          <p:nvPr/>
        </p:nvSpPr>
        <p:spPr>
          <a:xfrm>
            <a:off x="1735326" y="2805317"/>
            <a:ext cx="3302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chemeClr val="bg1"/>
                </a:solidFill>
                <a:latin typeface="+mn-ea"/>
              </a:rPr>
              <a:t>블렌딩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 및 최종 제출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2473C-2443-64D6-1957-E73B3B85116A}"/>
              </a:ext>
            </a:extLst>
          </p:cNvPr>
          <p:cNvSpPr txBox="1"/>
          <p:nvPr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272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137E3-4C9C-5979-7185-DAE412167CEE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4 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96CFE-9133-E0A0-65F3-50DEF61B9FFE}"/>
              </a:ext>
            </a:extLst>
          </p:cNvPr>
          <p:cNvSpPr txBox="1"/>
          <p:nvPr/>
        </p:nvSpPr>
        <p:spPr>
          <a:xfrm>
            <a:off x="1280688" y="191869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앙상블 기법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6A5F55-D4D5-C9AC-C414-5976F95B87B2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양쪽 대괄호 4">
            <a:extLst>
              <a:ext uri="{FF2B5EF4-FFF2-40B4-BE49-F238E27FC236}">
                <a16:creationId xmlns:a16="http://schemas.microsoft.com/office/drawing/2014/main" id="{970C0E3E-1951-22B3-9768-F60399659EF3}"/>
              </a:ext>
            </a:extLst>
          </p:cNvPr>
          <p:cNvSpPr/>
          <p:nvPr/>
        </p:nvSpPr>
        <p:spPr>
          <a:xfrm>
            <a:off x="1163052" y="2129883"/>
            <a:ext cx="9881937" cy="3077737"/>
          </a:xfrm>
          <a:prstGeom prst="bracketPair">
            <a:avLst>
              <a:gd name="adj" fmla="val 1231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F6597DB-0384-2CF1-9812-194AE76E9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8" y="1747838"/>
            <a:ext cx="804862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436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596CFE-9133-E0A0-65F3-50DEF61B9FFE}"/>
              </a:ext>
            </a:extLst>
          </p:cNvPr>
          <p:cNvSpPr txBox="1"/>
          <p:nvPr/>
        </p:nvSpPr>
        <p:spPr>
          <a:xfrm>
            <a:off x="1280688" y="19186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tx1">
                    <a:lumMod val="75000"/>
                  </a:schemeClr>
                </a:solidFill>
                <a:latin typeface="+mn-ea"/>
              </a:rPr>
              <a:t>블렌딩</a:t>
            </a:r>
            <a:endParaRPr lang="ko-KR" altLang="en-US" sz="2000" b="1" dirty="0">
              <a:solidFill>
                <a:schemeClr val="tx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6A5F55-D4D5-C9AC-C414-5976F95B87B2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8B75470D-63CA-DB05-9D4E-A357EC9C7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1479132"/>
            <a:ext cx="6762750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DF8C63-F988-64F0-2188-C38AB9DE0A77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4 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838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596CFE-9133-E0A0-65F3-50DEF61B9FFE}"/>
              </a:ext>
            </a:extLst>
          </p:cNvPr>
          <p:cNvSpPr txBox="1"/>
          <p:nvPr/>
        </p:nvSpPr>
        <p:spPr>
          <a:xfrm>
            <a:off x="1280688" y="191869"/>
            <a:ext cx="1627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RMSE</a:t>
            </a: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값 비교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6A5F55-D4D5-C9AC-C414-5976F95B87B2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D844F04-1053-1E28-61CE-692008AAA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73" y="1611790"/>
            <a:ext cx="11373853" cy="3622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1F2228-68F2-70F1-4748-D982E74C407F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4 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906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596CFE-9133-E0A0-65F3-50DEF61B9FFE}"/>
              </a:ext>
            </a:extLst>
          </p:cNvPr>
          <p:cNvSpPr txBox="1"/>
          <p:nvPr/>
        </p:nvSpPr>
        <p:spPr>
          <a:xfrm>
            <a:off x="1280688" y="191869"/>
            <a:ext cx="1627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RMSE</a:t>
            </a:r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값 비교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6A5F55-D4D5-C9AC-C414-5976F95B87B2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>
            <a:extLst>
              <a:ext uri="{FF2B5EF4-FFF2-40B4-BE49-F238E27FC236}">
                <a16:creationId xmlns:a16="http://schemas.microsoft.com/office/drawing/2014/main" id="{1DEF395C-4014-10C0-ABD2-E6CE5FCCE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53" y="1395663"/>
            <a:ext cx="8393363" cy="473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17CB648-1CFA-6B38-93FC-2603AA7B4EBF}"/>
              </a:ext>
            </a:extLst>
          </p:cNvPr>
          <p:cNvSpPr/>
          <p:nvPr/>
        </p:nvSpPr>
        <p:spPr>
          <a:xfrm>
            <a:off x="8924544" y="4718304"/>
            <a:ext cx="1402080" cy="11742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510FB-D063-DB29-B1CD-150991531DF1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4 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773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596CFE-9133-E0A0-65F3-50DEF61B9FFE}"/>
              </a:ext>
            </a:extLst>
          </p:cNvPr>
          <p:cNvSpPr txBox="1"/>
          <p:nvPr/>
        </p:nvSpPr>
        <p:spPr>
          <a:xfrm>
            <a:off x="1280688" y="191869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최종 제출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6A5F55-D4D5-C9AC-C414-5976F95B87B2}"/>
              </a:ext>
            </a:extLst>
          </p:cNvPr>
          <p:cNvCxnSpPr>
            <a:cxnSpLocks/>
          </p:cNvCxnSpPr>
          <p:nvPr/>
        </p:nvCxnSpPr>
        <p:spPr>
          <a:xfrm>
            <a:off x="1153688" y="724829"/>
            <a:ext cx="11038312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80D34A3F-AEDC-992A-0FAA-D345F6E69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28" y="1209012"/>
            <a:ext cx="5165320" cy="417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15D171FD-2212-9B8A-ACC0-3D2AF0169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416" y="4720844"/>
            <a:ext cx="7996740" cy="65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BE728B-04D5-30E6-73B2-F1834009D0D6}"/>
              </a:ext>
            </a:extLst>
          </p:cNvPr>
          <p:cNvSpPr txBox="1"/>
          <p:nvPr/>
        </p:nvSpPr>
        <p:spPr>
          <a:xfrm>
            <a:off x="262461" y="187373"/>
            <a:ext cx="914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</a:schemeClr>
                </a:solidFill>
              </a:rPr>
              <a:t>Part 4   &gt;&gt;</a:t>
            </a:r>
            <a:endParaRPr lang="ko-KR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531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벽, 화이트, 냉장고이(가) 표시된 사진&#10;&#10;자동 생성된 설명">
            <a:extLst>
              <a:ext uri="{FF2B5EF4-FFF2-40B4-BE49-F238E27FC236}">
                <a16:creationId xmlns:a16="http://schemas.microsoft.com/office/drawing/2014/main" id="{37E64327-4183-A222-E4A3-F6982B2EDC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0C412A-BC2E-2F73-FF9A-7FF93458EE42}"/>
              </a:ext>
            </a:extLst>
          </p:cNvPr>
          <p:cNvSpPr txBox="1"/>
          <p:nvPr/>
        </p:nvSpPr>
        <p:spPr>
          <a:xfrm>
            <a:off x="5759116" y="4531911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0000" b="1" dirty="0">
                <a:latin typeface="+mj-ea"/>
                <a:ea typeface="+mj-ea"/>
              </a:rPr>
              <a:t>Fin.</a:t>
            </a:r>
            <a:endParaRPr lang="ko-KR" altLang="en-US" sz="10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92928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520</Words>
  <Application>Microsoft Office PowerPoint</Application>
  <PresentationFormat>와이드스크린</PresentationFormat>
  <Paragraphs>212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1" baseType="lpstr">
      <vt:lpstr>AppleSDGothicNeo</vt:lpstr>
      <vt:lpstr>Pretendard</vt:lpstr>
      <vt:lpstr>Pretendard Black</vt:lpstr>
      <vt:lpstr>Söhne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hanys0716@naver.com</cp:lastModifiedBy>
  <cp:revision>27</cp:revision>
  <dcterms:created xsi:type="dcterms:W3CDTF">2023-04-19T04:07:11Z</dcterms:created>
  <dcterms:modified xsi:type="dcterms:W3CDTF">2023-10-02T08:37:10Z</dcterms:modified>
</cp:coreProperties>
</file>